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7003"/>
    <p:restoredTop sz="94660"/>
  </p:normalViewPr>
  <p:slideViewPr>
    <p:cSldViewPr snapToGrid="0">
      <p:cViewPr varScale="1">
        <p:scale>
          <a:sx d="100" n="86"/>
          <a:sy d="100" n="86"/>
        </p:scale>
        <p:origin x="394" y="6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31" Type="http://schemas.microsoft.com/office/2015/10/relationships/revisionInfo" Target="revisionInfo.xml" /><Relationship Id="rId26" Type="http://schemas.openxmlformats.org/officeDocument/2006/relationships/presProps" Target="presProps.xml" /><Relationship Id="rId30" Type="http://schemas.microsoft.com/office/2016/11/relationships/changesInfo" Target="changesInfos/changesInfo1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Students often learn ANCOVA and regression separately, but they are mathematically very similar.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8A96-757C-45BA-8466-3E81A5DEA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DFFC2-39D8-4B3A-83DC-7743C00978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HHS627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5A1C6-D69A-4F94-BEF6-A92CFD4E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73A5A-084D-47AD-990E-256D10C1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7E3C-6F83-4698-B7F8-0B6B78C5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E9DB-D92D-4BBA-9A65-F47D644A8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Master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FD736-89CD-4100-BE55-21BCE5B6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4B9FD-88D7-4A35-9303-88A01F3F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EC32-E2E6-4010-AF65-1A7F60B4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2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arget="../slideLayouts/slideLayout3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media/image1.jpg" Type="http://schemas.openxmlformats.org/officeDocument/2006/relationships/image" /><Relationship Id="rId5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8" Type="http://schemas.openxmlformats.org/officeDocument/2006/relationships/slideLayout" Target="../slideLayouts/slideLayout5.xml" /><Relationship Id="rId7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6F123-6133-49AB-8FBD-F2A89024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777"/>
            <a:ext cx="10515600" cy="1174398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8B69B-5F3D-4AB6-9FF3-D0BBBE476E07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2327563"/>
            <a:ext cx="10515600" cy="384939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981C-CEE5-4EAE-B425-5FF98C390D6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30D2C-0031-476A-95BD-456F210E52F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C5F58-A7EE-4995-B5DC-0C5093D60FB1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6DA6-E997-4BA2-8007-7493EF5EF73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4" r:id="rId3"/>
    <p:sldLayoutId id="2147483655" r:id="rId4"/>
    <p:sldLayoutId id="2147483657" r:id="rId8"/>
    <p:sldLayoutId id="2147483656" r:id="rId7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28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400">
          <a:solidFill>
            <a:schemeClr val="tx2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2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2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2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2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8A96-757C-45BA-8466-3E81A5DEA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Chapter 2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DFFC2-39D8-4B3A-83DC-7743C009788E}"/>
              </a:ext>
            </a:extLst>
          </p:cNvPr>
          <p:cNvSpPr>
            <a:spLocks noGrp="1"/>
          </p:cNvSpPr>
          <p:nvPr>
            <p:ph hasCustomPrompt="1"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HHS 627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Matching Research Designs to Analyses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HHS 627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Comparative Questions</a:t>
            </a:r>
          </a:p>
          <a:p>
            <a:pPr lvl="0"/>
            <a:r>
              <a:rPr/>
              <a:t>Experimental designs</a:t>
            </a:r>
          </a:p>
          <a:p>
            <a:pPr lvl="0"/>
            <a:r>
              <a:rPr/>
              <a:t>Quasi experiments comparing across groups</a:t>
            </a:r>
          </a:p>
          <a:p>
            <a:pPr lvl="0"/>
            <a:r>
              <a:rPr/>
              <a:t>Basic group comparisons</a:t>
            </a:r>
          </a:p>
          <a:p>
            <a:pPr lvl="0"/>
            <a:r>
              <a:rPr/>
              <a:t>Comparative analyses</a:t>
            </a:r>
          </a:p>
          <a:p>
            <a:pPr lvl="1"/>
            <a:r>
              <a:rPr/>
              <a:t>T-tests for independent samples</a:t>
            </a:r>
          </a:p>
          <a:p>
            <a:pPr lvl="1"/>
            <a:r>
              <a:rPr/>
              <a:t>ANOVAs for when there are more than two groups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Assocational Designs or Questions</a:t>
            </a:r>
          </a:p>
          <a:p>
            <a:pPr lvl="0"/>
            <a:r>
              <a:rPr/>
              <a:t>How do variables covary?</a:t>
            </a:r>
          </a:p>
          <a:p>
            <a:pPr lvl="0"/>
            <a:r>
              <a:rPr/>
              <a:t>Do higher scores on one variable predict/relate to higher scores on another variable?</a:t>
            </a:r>
          </a:p>
          <a:p>
            <a:pPr lvl="0"/>
            <a:r>
              <a:rPr/>
              <a:t>Correlations</a:t>
            </a:r>
          </a:p>
          <a:p>
            <a:pPr lvl="0"/>
            <a:r>
              <a:rPr/>
              <a:t>Regressions</a:t>
            </a:r>
          </a:p>
          <a:p>
            <a:pPr lvl="0"/>
            <a:r>
              <a:rPr/>
              <a:t>Multiple regressions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4B184-4E86-475C-9FE7-8779B1F6E4BD}"/>
                  </a:ext>
                </a:extLst>
              </p:cNvPr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General Linear Model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β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ε</m:t>
                      </m:r>
                    </m:oMath>
                  </m:oMathPara>
                </a14:m>
              </a:p>
              <a:p>
                <a:pPr lvl="0"/>
                <a:r>
                  <a:rPr/>
                  <a:t>The basic idea is that there is a y variable that moves up of down depending on levels of X</a:t>
                </a:r>
              </a:p>
              <a:p>
                <a:pPr lvl="1"/>
                <a:r>
                  <a:rPr/>
                  <a:t>Is the level of anxiety higher when the level of school-related stress is 20 versus 16?</a:t>
                </a:r>
              </a:p>
              <a:p>
                <a:pPr lvl="1"/>
                <a:r>
                  <a:rPr/>
                  <a:t>Is the level of anxiety higher in SE Asian students versus East Asian students?</a:t>
                </a:r>
              </a:p>
              <a:p>
                <a:pPr lvl="0"/>
                <a:r>
                  <a:rPr/>
                  <a:t>The movement up or down is captured by Beta</a:t>
                </a:r>
              </a:p>
              <a:p>
                <a:pPr lvl="1"/>
                <a:r>
                  <a:rPr/>
                  <a:t>A one unit “increase” in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associated with a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increase in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a:p>
              <a:p>
                <a:pPr lvl="0"/>
                <a:r>
                  <a:rPr/>
                  <a:t>In ANVOAs,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categorical, in regressions it is continuous</a:t>
                </a:r>
              </a:p>
              <a:p>
                <a:pPr lvl="1"/>
                <a:r>
                  <a:rPr/>
                  <a:t>That is somewhat artificial regressions can have categorical predictors</a:t>
                </a:r>
              </a:p>
              <a:p>
                <a:pPr lvl="2"/>
                <a:r>
                  <a:rPr/>
                  <a:t>ANOVAs generally cannot have continuous predictors, sometimes categorize for purposes of doing ANOVA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general linear model suggests that ANOVA and regressions are the same</a:t>
            </a:r>
          </a:p>
          <a:p>
            <a:pPr lvl="0"/>
            <a:r>
              <a:rPr/>
              <a:t>Generally speaking that is true</a:t>
            </a:r>
          </a:p>
          <a:p>
            <a:pPr lvl="0"/>
            <a:r>
              <a:rPr/>
              <a:t>ANOVA is a “special case” of regression where the IV is categorical</a:t>
            </a:r>
          </a:p>
          <a:p>
            <a:pPr lvl="0"/>
            <a:r>
              <a:rPr/>
              <a:t>However there are some models that are only possible in one approach versus the other</a:t>
            </a:r>
          </a:p>
          <a:p>
            <a:pPr lvl="1"/>
            <a:r>
              <a:rPr/>
              <a:t>Nominal grouping variables also need dummy coding in regressions which complicates things</a:t>
            </a:r>
          </a:p>
          <a:p>
            <a:pPr lvl="1"/>
            <a:r>
              <a:rPr/>
              <a:t>I would rather see an ANOVA for self-esteem differences in White, Black, Latino and Asian adolescents than run a regression with White as the reference group and the three minoritized groups as categories that “differ from” the reference group.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Comparative vs. Associational Designs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Comparative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Associational Designs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 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Examine relationships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Categorical IV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predictors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differences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Prediction and explanation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t-tests, ANOVA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Correlation, Regression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Question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 i="1"/>
              <a:t>Do groups differ, or are variables related?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Family of ANOVAs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400"/>
                <a:gridCol w="1778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Research Situation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 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Independent-samples </a:t>
                      </a:r>
                      <a:r>
                        <a:rPr i="1"/>
                        <a:t>t</a:t>
                      </a:r>
                      <a:r>
                        <a:rPr/>
                        <a:t> 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Three or more 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Groups + control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Multiple outcomes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 or more factors/IVs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Factorial 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Multiple assessments per participant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Repeated Measures 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Repeated measures and group differences in those measures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 Designs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324100"/>
          <a:ext cx="10515600" cy="38481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10515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## 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Statistical details for the next few weeks. HHS examples: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From Nutrition: Are levels of WIC participation associated with healthy eating?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Let’s break this down…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 What would a reasonable research question be? - How could we go about assessing WIC participation? - How would we differentiate among participants who had different levels - How would we measure that? - More importantly, is that a comparison? Or an association? - If so, what analysis would be done?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Weinfield, N. S., Borger, C., Au, L. E., Whaley, S. E., Berman, D., &amp; Ritchie, L. D. (2020). Longer participation in WIC is associated with better diet quality in 24-month-old children. Journal of the Academy of Nutrition and Dietetics, 120(6), 963-971.</a:t>
            </a:r>
          </a:p>
          <a:p>
            <a:pPr lvl="0" indent="0" marL="0">
              <a:buNone/>
            </a:pPr>
            <a:r>
              <a:rPr/>
              <a:t>Note: paper is in share folder if you want to follow along</a:t>
            </a:r>
          </a:p>
          <a:p>
            <a:pPr lvl="0"/>
            <a:r>
              <a:rPr/>
              <a:t>Objective to examine </a:t>
            </a:r>
            <a:r>
              <a:rPr i="1"/>
              <a:t>association</a:t>
            </a:r>
            <a:r>
              <a:rPr/>
              <a:t> between </a:t>
            </a:r>
            <a:r>
              <a:rPr b="1"/>
              <a:t>duration of WIC participation</a:t>
            </a:r>
            <a:r>
              <a:rPr/>
              <a:t> and diet quality 24-month-old children</a:t>
            </a:r>
          </a:p>
          <a:p>
            <a:pPr lvl="0"/>
            <a:r>
              <a:rPr/>
              <a:t>Telephone interview with mothers 2013 - 2016</a:t>
            </a:r>
          </a:p>
          <a:p>
            <a:pPr lvl="1"/>
            <a:r>
              <a:rPr/>
              <a:t>Was longitudinal</a:t>
            </a:r>
          </a:p>
          <a:p>
            <a:pPr lvl="1"/>
            <a:r>
              <a:rPr b="1" i="1"/>
              <a:t>Categorized</a:t>
            </a:r>
            <a:r>
              <a:rPr/>
              <a:t> participants into </a:t>
            </a:r>
            <a:r>
              <a:rPr b="1"/>
              <a:t>low</a:t>
            </a:r>
            <a:r>
              <a:rPr/>
              <a:t>, </a:t>
            </a:r>
            <a:r>
              <a:rPr b="1"/>
              <a:t>medium</a:t>
            </a:r>
            <a:r>
              <a:rPr/>
              <a:t>, </a:t>
            </a:r>
            <a:r>
              <a:rPr b="1"/>
              <a:t>high</a:t>
            </a:r>
            <a:r>
              <a:rPr/>
              <a:t> based on WIC participation at each interview point</a:t>
            </a:r>
          </a:p>
          <a:p>
            <a:pPr lvl="0"/>
            <a:r>
              <a:rPr/>
              <a:t>Main outcome was the Healthy Eating Index - 24 hour dietary recalls</a:t>
            </a:r>
          </a:p>
          <a:p>
            <a:pPr lvl="0" indent="0" marL="0">
              <a:buNone/>
            </a:pPr>
            <a:r>
              <a:rPr b="1" i="1"/>
              <a:t>What analysis would you expect the authors to run?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WIC Participation Duration Groups</a:t>
            </a:r>
          </a:p>
          <a:p>
            <a:pPr lvl="0" indent="0" marL="0">
              <a:buNone/>
            </a:pPr>
            <a:r>
              <a:rPr b="1"/>
              <a:t>Low Duration</a:t>
            </a:r>
            <a:r>
              <a:rPr/>
              <a:t> (n = 43; 3% weighted)</a:t>
            </a:r>
          </a:p>
          <a:p>
            <a:pPr lvl="0"/>
            <a:r>
              <a:rPr/>
              <a:t>WIC at 4 or fewer interviews</a:t>
            </a:r>
          </a:p>
          <a:p>
            <a:pPr lvl="0"/>
            <a:r>
              <a:rPr/>
              <a:t>No participation after 13 months</a:t>
            </a:r>
          </a:p>
          <a:p>
            <a:pPr lvl="0" indent="0" marL="0">
              <a:buNone/>
            </a:pPr>
            <a:r>
              <a:rPr b="1"/>
              <a:t>Intermediate Duration</a:t>
            </a:r>
            <a:r>
              <a:rPr/>
              <a:t> (n = 186; 15% weighted)</a:t>
            </a:r>
          </a:p>
          <a:p>
            <a:pPr lvl="0"/>
            <a:r>
              <a:rPr/>
              <a:t>WIC at 5-7 interviews</a:t>
            </a:r>
          </a:p>
          <a:p>
            <a:pPr lvl="0" indent="0" marL="0">
              <a:buNone/>
            </a:pPr>
            <a:r>
              <a:rPr b="1"/>
              <a:t>High Duration</a:t>
            </a:r>
            <a:r>
              <a:rPr/>
              <a:t> (n = 1,013; 82% weighted)</a:t>
            </a:r>
          </a:p>
          <a:p>
            <a:pPr lvl="0"/>
            <a:r>
              <a:rPr/>
              <a:t>WIC at 8-9 interviews</a:t>
            </a:r>
          </a:p>
          <a:p>
            <a:pPr lvl="0"/>
            <a:r>
              <a:rPr/>
              <a:t>Participated through most of the first 2 years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Results</a:t>
            </a:r>
          </a:p>
          <a:p>
            <a:pPr lvl="0" indent="0" marL="0">
              <a:buNone/>
            </a:pPr>
            <a:r>
              <a:rPr/>
              <a:t>Note the researchers first did </a:t>
            </a:r>
            <a:r>
              <a:rPr b="1" i="1"/>
              <a:t>ANOVA</a:t>
            </a:r>
            <a:r>
              <a:rPr/>
              <a:t> to just test mean differences</a:t>
            </a:r>
          </a:p>
          <a:p>
            <a:pPr lvl="0"/>
            <a:r>
              <a:rPr/>
              <a:t>Will get into details later, but relies on a </a:t>
            </a:r>
            <a:r>
              <a:rPr i="1"/>
              <a:t>Global F-Test</a:t>
            </a:r>
          </a:p>
          <a:p>
            <a:pPr lvl="0"/>
            <a:r>
              <a:rPr/>
              <a:t>Tests for mean differences across the groups generally, then typically there are follow up tests to compare groups specifically (if F is statistically significant</a:t>
            </a:r>
          </a:p>
          <a:p>
            <a:pPr lvl="0" indent="0" marL="0">
              <a:buNone/>
            </a:pPr>
            <a:r>
              <a:rPr/>
              <a:t>Then they did a multiple regression (multivariable in this case) to control for other variables that could have explained the differences that were observed</a:t>
            </a:r>
          </a:p>
          <a:p>
            <a:pPr lvl="0"/>
            <a:r>
              <a:rPr/>
              <a:t>Could have done an ANCOVA, but these are generally the same…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Analysis of Covariance</a:t>
            </a:r>
          </a:p>
          <a:p>
            <a:pPr lvl="0" indent="0" marL="0">
              <a:buNone/>
            </a:pPr>
            <a:r>
              <a:rPr/>
              <a:t>ANOVA plus one or more covariates.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/>
            <a:r>
              <a:rPr/>
              <a:t>Compare depression groups on BDNF levels</a:t>
            </a:r>
          </a:p>
          <a:p>
            <a:pPr lvl="0"/>
            <a:r>
              <a:rPr/>
              <a:t>Control for 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Purpose</a:t>
            </a:r>
          </a:p>
          <a:p>
            <a:pPr lvl="0" indent="0" marL="0">
              <a:buNone/>
            </a:pPr>
            <a:r>
              <a:rPr/>
              <a:t>Determine whether group differences remain after accounting for potential confounds.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MANOVA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Multivariate Analysis of Variance</a:t>
            </a:r>
          </a:p>
          <a:p>
            <a:pPr lvl="0" indent="0" marL="0">
              <a:buNone/>
            </a:pPr>
            <a:r>
              <a:rPr/>
              <a:t>Used when there are multiple outcomes.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 marL="0">
              <a:buNone/>
            </a:pPr>
            <a:r>
              <a:rPr/>
              <a:t>Compare groups on:</a:t>
            </a:r>
          </a:p>
          <a:p>
            <a:pPr lvl="0"/>
            <a:r>
              <a:rPr/>
              <a:t>Depression</a:t>
            </a:r>
          </a:p>
          <a:p>
            <a:pPr lvl="0"/>
            <a:r>
              <a:rPr/>
              <a:t>Anxiety</a:t>
            </a:r>
          </a:p>
          <a:p>
            <a:pPr lvl="0"/>
            <a:r>
              <a:rPr/>
              <a:t>Stress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Advantages</a:t>
            </a:r>
          </a:p>
          <a:p>
            <a:pPr lvl="0"/>
            <a:r>
              <a:rPr/>
              <a:t>Considers correlations among outcomes</a:t>
            </a:r>
          </a:p>
          <a:p>
            <a:pPr lvl="0"/>
            <a:r>
              <a:rPr/>
              <a:t>Reduces multiple testing</a:t>
            </a:r>
          </a:p>
          <a:p>
            <a:pPr lvl="0"/>
            <a:r>
              <a:rPr/>
              <a:t>Evaluates overall outcome patterns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5105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## Analyses for Associational Designs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These generally would have numeric/continuous outcome, numeric/continuous predictor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 That isn’t true, however - There are different types of correlations, regressions that account for categorical variables either as predictors or outcomes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i="1"/>
                        <a:t>Correlations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- Is there a positive/negative association among two variables - Are participants who are higher on the continuum for one variable also higher/lower on the othe variable - What does a </a:t>
                      </a:r>
                      <a:r>
                        <a:rPr b="1"/>
                        <a:t>positive</a:t>
                      </a:r>
                      <a:r>
                        <a:rPr/>
                        <a:t> correlation imply or suggest? - What does a </a:t>
                      </a:r>
                      <a:r>
                        <a:rPr b="1"/>
                        <a:t>negative</a:t>
                      </a:r>
                      <a:r>
                        <a:rPr/>
                        <a:t> correlation imply or suggest?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i="1"/>
                        <a:t>Correlations are interesting and important</a:t>
                      </a:r>
                      <a:r>
                        <a:rPr/>
                        <a:t> but often only descriptive and most HHS research is too complex and needs multiple predictors as control variables and so correlations are often only a first, descriptive step in our analyses</a:t>
                      </a:r>
                    </a:p>
                  </a:txBody>
                </a:tc>
              </a:tr>
            </a:tbl>
          </a:graphicData>
        </a:graphic>
      </p:graphicFrame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 Family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Pearson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× Continuous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Spearman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Ordered-Categorical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Kendall’s Tau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Ordered-Categorical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Point-Biserial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× Binary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Binary × Binary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Question</a:t>
            </a:r>
          </a:p>
          <a:p>
            <a:pPr lvl="0" indent="0" marL="0">
              <a:buNone/>
            </a:pPr>
            <a:r>
              <a:rPr/>
              <a:t>How strongly are two variables related?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4B184-4E86-475C-9FE7-8779B1F6E4BD}"/>
                  </a:ext>
                </a:extLst>
              </p:cNvPr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Multiple Regression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General Model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Researchers use regression to:</a:t>
                </a:r>
              </a:p>
              <a:p>
                <a:pPr lvl="0"/>
                <a:r>
                  <a:rPr/>
                  <a:t>Predict outcomes</a:t>
                </a:r>
              </a:p>
              <a:p>
                <a:pPr lvl="0"/>
                <a:r>
                  <a:rPr/>
                  <a:t>Control confounding variables</a:t>
                </a:r>
              </a:p>
              <a:p>
                <a:pPr lvl="0"/>
                <a:r>
                  <a:rPr/>
                  <a:t>Estimate unique effects</a:t>
                </a:r>
              </a:p>
              <a:p>
                <a:pPr lvl="0"/>
                <a:r>
                  <a:rPr/>
                  <a:t>Test theoretical models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Logistic Regression</a:t>
            </a:r>
          </a:p>
          <a:p>
            <a:pPr lvl="0" indent="0" marL="0">
              <a:buNone/>
            </a:pPr>
            <a:r>
              <a:rPr/>
              <a:t>Used when the outcome is binary.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Examples</a:t>
            </a:r>
          </a:p>
          <a:p>
            <a:pPr lvl="0"/>
            <a:r>
              <a:rPr/>
              <a:t>Passed / Failed</a:t>
            </a:r>
          </a:p>
          <a:p>
            <a:pPr lvl="0"/>
            <a:r>
              <a:rPr/>
              <a:t>Pregnant / Not Pregnant</a:t>
            </a:r>
          </a:p>
          <a:p>
            <a:pPr lvl="0"/>
            <a:r>
              <a:rPr/>
              <a:t>Smoker / Non-Smoker</a:t>
            </a:r>
          </a:p>
          <a:p>
            <a:pPr lvl="0"/>
            <a:r>
              <a:rPr/>
              <a:t>Survived / Died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Typical Results</a:t>
            </a:r>
          </a:p>
          <a:p>
            <a:pPr lvl="0"/>
            <a:r>
              <a:rPr/>
              <a:t>Odds ratios</a:t>
            </a:r>
          </a:p>
          <a:p>
            <a:pPr lvl="0"/>
            <a:r>
              <a:rPr/>
              <a:t>Confidence intervals</a:t>
            </a:r>
          </a:p>
          <a:p>
            <a:pPr lvl="0"/>
            <a:r>
              <a:rPr/>
              <a:t>Predicted probabilities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 vs. Regression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</a:t>
            </a:r>
          </a:p>
          <a:p>
            <a:pPr lvl="0"/>
            <a:r>
              <a:rPr/>
              <a:t>Measures association</a:t>
            </a:r>
          </a:p>
          <a:p>
            <a:pPr lvl="0"/>
            <a:r>
              <a:rPr/>
              <a:t>Usually involves two variables</a:t>
            </a:r>
          </a:p>
          <a:p>
            <a:pPr lvl="0"/>
            <a:r>
              <a:rPr/>
              <a:t>No statistical control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Regression</a:t>
            </a:r>
          </a:p>
          <a:p>
            <a:pPr lvl="0"/>
            <a:r>
              <a:rPr/>
              <a:t>Multiple predictors possible</a:t>
            </a:r>
          </a:p>
          <a:p>
            <a:pPr lvl="0"/>
            <a:r>
              <a:rPr/>
              <a:t>Allows statistical control</a:t>
            </a:r>
          </a:p>
          <a:p>
            <a:pPr lvl="0"/>
            <a:r>
              <a:rPr/>
              <a:t>Supports prediction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Idea</a:t>
            </a:r>
          </a:p>
          <a:p>
            <a:pPr lvl="0" indent="0" marL="0">
              <a:buNone/>
            </a:pPr>
            <a:r>
              <a:rPr/>
              <a:t>Regression often provides stronger evidence than a simple correlation.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Sources in HHS Research</a:t>
            </a:r>
          </a:p>
          <a:p>
            <a:pPr lvl="0" indent="0" marL="0">
              <a:buNone/>
            </a:pPr>
            <a:r>
              <a:rPr/>
              <a:t>Common sources include:</a:t>
            </a:r>
          </a:p>
          <a:p>
            <a:pPr lvl="0"/>
            <a:r>
              <a:rPr/>
              <a:t>Self-report surveys</a:t>
            </a:r>
          </a:p>
          <a:p>
            <a:pPr lvl="0"/>
            <a:r>
              <a:rPr/>
              <a:t>Observational data</a:t>
            </a:r>
          </a:p>
          <a:p>
            <a:pPr lvl="0"/>
            <a:r>
              <a:rPr/>
              <a:t>Physiological measures</a:t>
            </a:r>
          </a:p>
          <a:p>
            <a:pPr lvl="0"/>
            <a:r>
              <a:rPr/>
              <a:t>Administrative records</a:t>
            </a:r>
          </a:p>
          <a:p>
            <a:pPr lvl="0"/>
            <a:r>
              <a:rPr/>
              <a:t>Public datasets</a:t>
            </a:r>
          </a:p>
          <a:p>
            <a:pPr lvl="0"/>
            <a:r>
              <a:rPr/>
              <a:t>Wearable devices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Point</a:t>
            </a:r>
          </a:p>
          <a:p>
            <a:pPr lvl="0" indent="0" marL="0">
              <a:buNone/>
            </a:pPr>
            <a:r>
              <a:rPr/>
              <a:t>Data source often influences research design and statistical analysis.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Levels of Measurement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Hierarchy</a:t>
            </a:r>
          </a:p>
          <a:p>
            <a:pPr lvl="0" indent="0" marL="0">
              <a:buNone/>
            </a:pPr>
            <a:r>
              <a:rPr b="1"/>
              <a:t>Nominal → Ordinal → Interval → Ratio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Nominal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Gender, Race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Likert Item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Standardized Scores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Weight, Steps, Income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Choosing the Correct Analysis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Decision Process</a:t>
            </a:r>
          </a:p>
          <a:p>
            <a:pPr lvl="0" indent="-457200" marL="457200">
              <a:buAutoNum type="arabicPeriod"/>
            </a:pPr>
            <a:r>
              <a:rPr/>
              <a:t>Comparative or associational question?</a:t>
            </a:r>
          </a:p>
          <a:p>
            <a:pPr lvl="0" indent="-457200" marL="457200">
              <a:buAutoNum type="arabicPeriod"/>
            </a:pPr>
            <a:r>
              <a:rPr/>
              <a:t>How many groups?</a:t>
            </a:r>
          </a:p>
          <a:p>
            <a:pPr lvl="0" indent="-457200" marL="457200">
              <a:buAutoNum type="arabicPeriod"/>
            </a:pPr>
            <a:r>
              <a:rPr/>
              <a:t>How many variables?</a:t>
            </a:r>
          </a:p>
          <a:p>
            <a:pPr lvl="0" indent="-457200" marL="457200">
              <a:buAutoNum type="arabicPeriod"/>
            </a:pPr>
            <a:r>
              <a:rPr/>
              <a:t>What is the outcome type?</a:t>
            </a:r>
          </a:p>
          <a:p>
            <a:pPr lvl="0" indent="-457200" marL="457200">
              <a:buAutoNum type="arabicPeriod"/>
            </a:pPr>
            <a:r>
              <a:rPr/>
              <a:t>What is the level of measurement?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Match the statistical analysis to the research design, not the other way around.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E9DB-D92D-4BBA-9A65-F47D644A892E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a study of college students:</a:t>
            </a:r>
          </a:p>
          <a:p>
            <a:pPr lvl="0"/>
            <a:r>
              <a:rPr/>
              <a:t>Outcome: Depression</a:t>
            </a:r>
          </a:p>
          <a:p>
            <a:pPr lvl="0"/>
            <a:r>
              <a:rPr/>
              <a:t>Predictor: Gender</a:t>
            </a:r>
          </a:p>
          <a:p>
            <a:pPr lvl="0"/>
            <a:r>
              <a:rPr/>
              <a:t>Covariate: Body image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Questions</a:t>
            </a:r>
          </a:p>
          <a:p>
            <a:pPr lvl="0" indent="-457200" marL="457200">
              <a:buAutoNum type="arabicPeriod"/>
            </a:pPr>
            <a:r>
              <a:rPr/>
              <a:t>What is the research question?</a:t>
            </a:r>
          </a:p>
          <a:p>
            <a:pPr lvl="0" indent="-457200" marL="457200">
              <a:buAutoNum type="arabicPeriod"/>
            </a:pPr>
            <a:r>
              <a:rPr/>
              <a:t>Comparative or associational?</a:t>
            </a:r>
          </a:p>
          <a:p>
            <a:pPr lvl="0" indent="-457200" marL="457200">
              <a:buAutoNum type="arabicPeriod"/>
            </a:pPr>
            <a:r>
              <a:rPr/>
              <a:t>What analysis would you choose?</a:t>
            </a:r>
          </a:p>
          <a:p>
            <a:pPr lvl="0" indent="-457200" marL="457200">
              <a:buAutoNum type="arabicPeriod"/>
            </a:pPr>
            <a:r>
              <a:rPr/>
              <a:t>Could this be analyzed using regression?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UNCG-White-TopNavyBar">
  <a:themeElements>
    <a:clrScheme name="uncg-brand-2018_v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92D1B3"/>
      </a:accent2>
      <a:accent3>
        <a:srgbClr val="00698C"/>
      </a:accent3>
      <a:accent4>
        <a:srgbClr val="A00C30"/>
      </a:accent4>
      <a:accent5>
        <a:srgbClr val="A59C87"/>
      </a:accent5>
      <a:accent6>
        <a:srgbClr val="4FC2BF"/>
      </a:accent6>
      <a:hlink>
        <a:srgbClr val="00698C"/>
      </a:hlink>
      <a:folHlink>
        <a:srgbClr val="A6B0B7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FA0B92A-3BFA-4DF7-A8BB-8167C934927F}" vid="{F4432C4E-E316-4309-BF62-06306CF9A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UNCG-White-TopNavyBar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Slides</dc:title>
  <dc:creator/>
  <cp:keywords/>
  <dcterms:created xsi:type="dcterms:W3CDTF">2026-09-01T11:30:26Z</dcterms:created>
  <dcterms:modified xsi:type="dcterms:W3CDTF">2026-09-01T11:30:26Z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/>
  </property>
  <property fmtid="{D5CDD505-2E9C-101B-9397-08002B2CF9AE}" pid="4" name="engines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HHS 627</vt:lpwstr>
  </property>
  <property fmtid="{D5CDD505-2E9C-101B-9397-08002B2CF9AE}" pid="10" name="toc-title">
    <vt:lpwstr>Table of contents</vt:lpwstr>
  </property>
</Properties>
</file>