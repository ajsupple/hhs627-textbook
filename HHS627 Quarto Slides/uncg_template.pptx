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59608F-3BDA-430A-84CD-D8D7A6D2A199}" v="14" dt="2026-09-08T00:27:00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3" autoAdjust="0"/>
    <p:restoredTop sz="94660"/>
  </p:normalViewPr>
  <p:slideViewPr>
    <p:cSldViewPr snapToGrid="0">
      <p:cViewPr varScale="1">
        <p:scale>
          <a:sx n="85" d="100"/>
          <a:sy n="85" d="100"/>
        </p:scale>
        <p:origin x="42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Supple" userId="fa8c0aaa-664f-4de3-bfcd-33e145971326" providerId="ADAL" clId="{30DBEC31-4920-40D0-B986-B02F3F6AE970}"/>
    <pc:docChg chg="undo custSel addSld delSld modSld">
      <pc:chgData name="Andrew Supple" userId="fa8c0aaa-664f-4de3-bfcd-33e145971326" providerId="ADAL" clId="{30DBEC31-4920-40D0-B986-B02F3F6AE970}" dt="2026-09-08T00:27:00.250" v="291" actId="27636"/>
      <pc:docMkLst>
        <pc:docMk/>
      </pc:docMkLst>
      <pc:sldChg chg="modSp add mod">
        <pc:chgData name="Andrew Supple" userId="fa8c0aaa-664f-4de3-bfcd-33e145971326" providerId="ADAL" clId="{30DBEC31-4920-40D0-B986-B02F3F6AE970}" dt="2026-09-07T23:57:42.758" v="7" actId="20577"/>
        <pc:sldMkLst>
          <pc:docMk/>
          <pc:sldMk cId="0" sldId="256"/>
        </pc:sldMkLst>
        <pc:spChg chg="mod">
          <ac:chgData name="Andrew Supple" userId="fa8c0aaa-664f-4de3-bfcd-33e145971326" providerId="ADAL" clId="{30DBEC31-4920-40D0-B986-B02F3F6AE970}" dt="2026-09-07T23:57:42.758" v="7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add mod">
        <pc:chgData name="Andrew Supple" userId="fa8c0aaa-664f-4de3-bfcd-33e145971326" providerId="ADAL" clId="{30DBEC31-4920-40D0-B986-B02F3F6AE970}" dt="2026-09-07T23:58:08.501" v="15" actId="14100"/>
        <pc:sldMkLst>
          <pc:docMk/>
          <pc:sldMk cId="0" sldId="257"/>
        </pc:sldMkLst>
        <pc:spChg chg="mod">
          <ac:chgData name="Andrew Supple" userId="fa8c0aaa-664f-4de3-bfcd-33e145971326" providerId="ADAL" clId="{30DBEC31-4920-40D0-B986-B02F3F6AE970}" dt="2026-09-07T23:58:08.501" v="15" actId="14100"/>
          <ac:spMkLst>
            <pc:docMk/>
            <pc:sldMk cId="0" sldId="257"/>
            <ac:spMk id="3" creationId="{00000000-0000-0000-0000-000000000000}"/>
          </ac:spMkLst>
        </pc:spChg>
      </pc:sldChg>
      <pc:sldChg chg="modSp add mod">
        <pc:chgData name="Andrew Supple" userId="fa8c0aaa-664f-4de3-bfcd-33e145971326" providerId="ADAL" clId="{30DBEC31-4920-40D0-B986-B02F3F6AE970}" dt="2026-09-08T00:03:32.236" v="16" actId="14100"/>
        <pc:sldMkLst>
          <pc:docMk/>
          <pc:sldMk cId="0" sldId="258"/>
        </pc:sldMkLst>
        <pc:spChg chg="mod">
          <ac:chgData name="Andrew Supple" userId="fa8c0aaa-664f-4de3-bfcd-33e145971326" providerId="ADAL" clId="{30DBEC31-4920-40D0-B986-B02F3F6AE970}" dt="2026-09-08T00:03:32.236" v="16" actId="14100"/>
          <ac:spMkLst>
            <pc:docMk/>
            <pc:sldMk cId="0" sldId="258"/>
            <ac:spMk id="3" creationId="{00000000-0000-0000-0000-000000000000}"/>
          </ac:spMkLst>
        </pc:spChg>
      </pc:sldChg>
      <pc:sldChg chg="modSp add mod">
        <pc:chgData name="Andrew Supple" userId="fa8c0aaa-664f-4de3-bfcd-33e145971326" providerId="ADAL" clId="{30DBEC31-4920-40D0-B986-B02F3F6AE970}" dt="2026-09-08T00:04:51.702" v="144" actId="20577"/>
        <pc:sldMkLst>
          <pc:docMk/>
          <pc:sldMk cId="0" sldId="259"/>
        </pc:sldMkLst>
        <pc:spChg chg="mod">
          <ac:chgData name="Andrew Supple" userId="fa8c0aaa-664f-4de3-bfcd-33e145971326" providerId="ADAL" clId="{30DBEC31-4920-40D0-B986-B02F3F6AE970}" dt="2026-09-08T00:04:51.702" v="144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add mod">
        <pc:chgData name="Andrew Supple" userId="fa8c0aaa-664f-4de3-bfcd-33e145971326" providerId="ADAL" clId="{30DBEC31-4920-40D0-B986-B02F3F6AE970}" dt="2026-09-08T00:05:08.215" v="167" actId="20577"/>
        <pc:sldMkLst>
          <pc:docMk/>
          <pc:sldMk cId="0" sldId="260"/>
        </pc:sldMkLst>
        <pc:spChg chg="mod">
          <ac:chgData name="Andrew Supple" userId="fa8c0aaa-664f-4de3-bfcd-33e145971326" providerId="ADAL" clId="{30DBEC31-4920-40D0-B986-B02F3F6AE970}" dt="2026-09-08T00:05:08.215" v="167" actId="20577"/>
          <ac:spMkLst>
            <pc:docMk/>
            <pc:sldMk cId="0" sldId="260"/>
            <ac:spMk id="2" creationId="{00000000-0000-0000-0000-000000000000}"/>
          </ac:spMkLst>
        </pc:spChg>
      </pc:sldChg>
      <pc:sldChg chg="modSp add mod">
        <pc:chgData name="Andrew Supple" userId="fa8c0aaa-664f-4de3-bfcd-33e145971326" providerId="ADAL" clId="{30DBEC31-4920-40D0-B986-B02F3F6AE970}" dt="2026-09-08T00:24:00.230" v="172" actId="14100"/>
        <pc:sldMkLst>
          <pc:docMk/>
          <pc:sldMk cId="0" sldId="261"/>
        </pc:sldMkLst>
        <pc:spChg chg="mod">
          <ac:chgData name="Andrew Supple" userId="fa8c0aaa-664f-4de3-bfcd-33e145971326" providerId="ADAL" clId="{30DBEC31-4920-40D0-B986-B02F3F6AE970}" dt="2026-09-08T00:24:00.230" v="172" actId="14100"/>
          <ac:spMkLst>
            <pc:docMk/>
            <pc:sldMk cId="0" sldId="261"/>
            <ac:spMk id="3" creationId="{00000000-0000-0000-0000-000000000000}"/>
          </ac:spMkLst>
        </pc:spChg>
      </pc:sldChg>
      <pc:sldChg chg="add">
        <pc:chgData name="Andrew Supple" userId="fa8c0aaa-664f-4de3-bfcd-33e145971326" providerId="ADAL" clId="{30DBEC31-4920-40D0-B986-B02F3F6AE970}" dt="2026-09-07T23:57:34.417" v="0"/>
        <pc:sldMkLst>
          <pc:docMk/>
          <pc:sldMk cId="0" sldId="262"/>
        </pc:sldMkLst>
      </pc:sldChg>
      <pc:sldChg chg="modSp add mod">
        <pc:chgData name="Andrew Supple" userId="fa8c0aaa-664f-4de3-bfcd-33e145971326" providerId="ADAL" clId="{30DBEC31-4920-40D0-B986-B02F3F6AE970}" dt="2026-09-08T00:24:24.661" v="176" actId="15"/>
        <pc:sldMkLst>
          <pc:docMk/>
          <pc:sldMk cId="0" sldId="263"/>
        </pc:sldMkLst>
        <pc:spChg chg="mod">
          <ac:chgData name="Andrew Supple" userId="fa8c0aaa-664f-4de3-bfcd-33e145971326" providerId="ADAL" clId="{30DBEC31-4920-40D0-B986-B02F3F6AE970}" dt="2026-09-08T00:24:24.661" v="176" actId="15"/>
          <ac:spMkLst>
            <pc:docMk/>
            <pc:sldMk cId="0" sldId="263"/>
            <ac:spMk id="3" creationId="{00000000-0000-0000-0000-000000000000}"/>
          </ac:spMkLst>
        </pc:spChg>
      </pc:sldChg>
      <pc:sldChg chg="del">
        <pc:chgData name="Andrew Supple" userId="fa8c0aaa-664f-4de3-bfcd-33e145971326" providerId="ADAL" clId="{30DBEC31-4920-40D0-B986-B02F3F6AE970}" dt="2026-09-07T23:57:37.707" v="6" actId="47"/>
        <pc:sldMkLst>
          <pc:docMk/>
          <pc:sldMk cId="1622142553" sldId="264"/>
        </pc:sldMkLst>
      </pc:sldChg>
      <pc:sldChg chg="add">
        <pc:chgData name="Andrew Supple" userId="fa8c0aaa-664f-4de3-bfcd-33e145971326" providerId="ADAL" clId="{30DBEC31-4920-40D0-B986-B02F3F6AE970}" dt="2026-09-07T23:57:34.417" v="0"/>
        <pc:sldMkLst>
          <pc:docMk/>
          <pc:sldMk cId="0" sldId="265"/>
        </pc:sldMkLst>
      </pc:sldChg>
      <pc:sldChg chg="add">
        <pc:chgData name="Andrew Supple" userId="fa8c0aaa-664f-4de3-bfcd-33e145971326" providerId="ADAL" clId="{30DBEC31-4920-40D0-B986-B02F3F6AE970}" dt="2026-09-07T23:57:34.417" v="0"/>
        <pc:sldMkLst>
          <pc:docMk/>
          <pc:sldMk cId="0" sldId="266"/>
        </pc:sldMkLst>
      </pc:sldChg>
      <pc:sldChg chg="modSp add mod">
        <pc:chgData name="Andrew Supple" userId="fa8c0aaa-664f-4de3-bfcd-33e145971326" providerId="ADAL" clId="{30DBEC31-4920-40D0-B986-B02F3F6AE970}" dt="2026-09-08T00:24:54.351" v="179" actId="15"/>
        <pc:sldMkLst>
          <pc:docMk/>
          <pc:sldMk cId="0" sldId="267"/>
        </pc:sldMkLst>
        <pc:spChg chg="mod">
          <ac:chgData name="Andrew Supple" userId="fa8c0aaa-664f-4de3-bfcd-33e145971326" providerId="ADAL" clId="{30DBEC31-4920-40D0-B986-B02F3F6AE970}" dt="2026-09-08T00:24:54.351" v="179" actId="15"/>
          <ac:spMkLst>
            <pc:docMk/>
            <pc:sldMk cId="0" sldId="267"/>
            <ac:spMk id="3" creationId="{00000000-0000-0000-0000-000000000000}"/>
          </ac:spMkLst>
        </pc:spChg>
      </pc:sldChg>
      <pc:sldChg chg="add">
        <pc:chgData name="Andrew Supple" userId="fa8c0aaa-664f-4de3-bfcd-33e145971326" providerId="ADAL" clId="{30DBEC31-4920-40D0-B986-B02F3F6AE970}" dt="2026-09-07T23:57:34.417" v="0"/>
        <pc:sldMkLst>
          <pc:docMk/>
          <pc:sldMk cId="0" sldId="268"/>
        </pc:sldMkLst>
      </pc:sldChg>
      <pc:sldChg chg="add">
        <pc:chgData name="Andrew Supple" userId="fa8c0aaa-664f-4de3-bfcd-33e145971326" providerId="ADAL" clId="{30DBEC31-4920-40D0-B986-B02F3F6AE970}" dt="2026-09-07T23:57:34.417" v="0"/>
        <pc:sldMkLst>
          <pc:docMk/>
          <pc:sldMk cId="0" sldId="269"/>
        </pc:sldMkLst>
      </pc:sldChg>
      <pc:sldChg chg="modSp add mod">
        <pc:chgData name="Andrew Supple" userId="fa8c0aaa-664f-4de3-bfcd-33e145971326" providerId="ADAL" clId="{30DBEC31-4920-40D0-B986-B02F3F6AE970}" dt="2026-09-08T00:25:17.392" v="180" actId="33524"/>
        <pc:sldMkLst>
          <pc:docMk/>
          <pc:sldMk cId="0" sldId="270"/>
        </pc:sldMkLst>
        <pc:spChg chg="mod">
          <ac:chgData name="Andrew Supple" userId="fa8c0aaa-664f-4de3-bfcd-33e145971326" providerId="ADAL" clId="{30DBEC31-4920-40D0-B986-B02F3F6AE970}" dt="2026-09-08T00:25:17.392" v="180" actId="33524"/>
          <ac:spMkLst>
            <pc:docMk/>
            <pc:sldMk cId="0" sldId="270"/>
            <ac:spMk id="3" creationId="{00000000-0000-0000-0000-000000000000}"/>
          </ac:spMkLst>
        </pc:spChg>
      </pc:sldChg>
      <pc:sldChg chg="modSp add mod">
        <pc:chgData name="Andrew Supple" userId="fa8c0aaa-664f-4de3-bfcd-33e145971326" providerId="ADAL" clId="{30DBEC31-4920-40D0-B986-B02F3F6AE970}" dt="2026-09-07T23:57:34.628" v="4" actId="27636"/>
        <pc:sldMkLst>
          <pc:docMk/>
          <pc:sldMk cId="0" sldId="271"/>
        </pc:sldMkLst>
        <pc:spChg chg="mod">
          <ac:chgData name="Andrew Supple" userId="fa8c0aaa-664f-4de3-bfcd-33e145971326" providerId="ADAL" clId="{30DBEC31-4920-40D0-B986-B02F3F6AE970}" dt="2026-09-07T23:57:34.628" v="4" actId="27636"/>
          <ac:spMkLst>
            <pc:docMk/>
            <pc:sldMk cId="0" sldId="271"/>
            <ac:spMk id="3" creationId="{00000000-0000-0000-0000-000000000000}"/>
          </ac:spMkLst>
        </pc:spChg>
      </pc:sldChg>
      <pc:sldChg chg="modSp add mod">
        <pc:chgData name="Andrew Supple" userId="fa8c0aaa-664f-4de3-bfcd-33e145971326" providerId="ADAL" clId="{30DBEC31-4920-40D0-B986-B02F3F6AE970}" dt="2026-09-08T00:27:00.250" v="291" actId="27636"/>
        <pc:sldMkLst>
          <pc:docMk/>
          <pc:sldMk cId="0" sldId="272"/>
        </pc:sldMkLst>
        <pc:spChg chg="mod">
          <ac:chgData name="Andrew Supple" userId="fa8c0aaa-664f-4de3-bfcd-33e145971326" providerId="ADAL" clId="{30DBEC31-4920-40D0-B986-B02F3F6AE970}" dt="2026-09-08T00:27:00.250" v="291" actId="27636"/>
          <ac:spMkLst>
            <pc:docMk/>
            <pc:sldMk cId="0" sldId="27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8A96-757C-45BA-8466-3E81A5DEA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DFFC2-39D8-4B3A-83DC-7743C00978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HHS627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5A1C6-D69A-4F94-BEF6-A92CFD4E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73A5A-084D-47AD-990E-256D10C1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67E3C-6F83-4698-B7F8-0B6B78C5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4E9DB-D92D-4BBA-9A65-F47D644A89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Master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FD736-89CD-4100-BE55-21BCE5B67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4B9FD-88D7-4A35-9303-88A01F3FB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BEC32-E2E6-4010-AF65-1A7F60B4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2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0FCA-EC7E-44FE-9C27-32F226F4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1A376-C50F-4EE8-BB9C-AB20C9929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B8F1F-2523-4C0B-8AD4-C6FFA8B1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3F433-2AEF-43FC-94F3-47ED94C4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3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5F49D-7676-4CBD-815D-FA837B34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081DD-D1D3-4D4C-A90F-32D62FCC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82DF5-3530-4EEE-A958-B37EC6905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0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6F123-6133-49AB-8FBD-F2A89024D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3777"/>
            <a:ext cx="10515600" cy="11743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8B69B-5F3D-4AB6-9FF3-D0BBBE476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7563"/>
            <a:ext cx="10515600" cy="3849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C981C-CEE5-4EAE-B425-5FF98C390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30D2C-0031-476A-95BD-456F210E52F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C5F58-A7EE-4995-B5DC-0C5093D60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66DA6-E997-4BA2-8007-7493EF5EF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dirty="0"/>
              <a:t>Data Cleaning and Using 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Using R to Read Data, Recode Variables, and Prepare Data for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30824"/>
            <a:ext cx="10515600" cy="3846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</a:t>
            </a:r>
            <a:r>
              <a:rPr dirty="0"/>
              <a:t>get started with data analysis we will follow these steps:</a:t>
            </a:r>
          </a:p>
          <a:p>
            <a:pPr marL="457189" indent="-457189">
              <a:buAutoNum type="arabicPeriod"/>
            </a:pPr>
            <a:r>
              <a:rPr dirty="0"/>
              <a:t>Read data into R</a:t>
            </a:r>
          </a:p>
          <a:p>
            <a:pPr marL="457189" indent="-457189">
              <a:buAutoNum type="arabicPeriod"/>
            </a:pPr>
            <a:r>
              <a:rPr dirty="0"/>
              <a:t>View and inspect data</a:t>
            </a:r>
          </a:p>
          <a:p>
            <a:pPr marL="457189" indent="-457189">
              <a:buAutoNum type="arabicPeriod"/>
            </a:pPr>
            <a:r>
              <a:rPr dirty="0"/>
              <a:t>Clean any data issues or problems</a:t>
            </a:r>
          </a:p>
          <a:p>
            <a:pPr marL="457189" indent="-457189">
              <a:buAutoNum type="arabicPeriod"/>
            </a:pPr>
            <a:r>
              <a:rPr dirty="0"/>
              <a:t>Recode where necessary</a:t>
            </a:r>
          </a:p>
          <a:p>
            <a:pPr marL="457189" indent="-457189">
              <a:buAutoNum type="arabicPeriod"/>
            </a:pPr>
            <a:r>
              <a:rPr dirty="0"/>
              <a:t>Create summary variables if necessary</a:t>
            </a:r>
          </a:p>
          <a:p>
            <a:pPr marL="457189" indent="-457189">
              <a:buAutoNum type="arabicPeriod"/>
            </a:pPr>
            <a:r>
              <a:rPr dirty="0"/>
              <a:t>Standardizing variables</a:t>
            </a:r>
          </a:p>
          <a:p>
            <a:pPr marL="457189" indent="-457189">
              <a:buAutoNum type="arabicPeriod"/>
            </a:pPr>
            <a:r>
              <a:rPr dirty="0"/>
              <a:t>Decisions regarding missing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data into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41177"/>
            <a:ext cx="10515600" cy="3935786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Base R has a number of built-in functions for reading in text and ASCII data</a:t>
            </a:r>
          </a:p>
          <a:p>
            <a:pPr lvl="0"/>
            <a:r>
              <a:rPr dirty="0"/>
              <a:t>Some key terms: Data are </a:t>
            </a:r>
            <a:r>
              <a:rPr i="1" dirty="0"/>
              <a:t>delimited</a:t>
            </a:r>
            <a:r>
              <a:rPr dirty="0"/>
              <a:t> or separated in text files by things like </a:t>
            </a:r>
            <a:r>
              <a:rPr i="1" dirty="0"/>
              <a:t>tabs</a:t>
            </a:r>
            <a:r>
              <a:rPr dirty="0"/>
              <a:t>, </a:t>
            </a:r>
            <a:r>
              <a:rPr i="1" dirty="0"/>
              <a:t>commas</a:t>
            </a:r>
            <a:r>
              <a:rPr dirty="0"/>
              <a:t>, or </a:t>
            </a:r>
            <a:r>
              <a:rPr i="1" dirty="0"/>
              <a:t>spaces</a:t>
            </a:r>
          </a:p>
          <a:p>
            <a:pPr lvl="0"/>
            <a:r>
              <a:rPr dirty="0"/>
              <a:t>How the data are delimited influences which function should be used</a:t>
            </a:r>
          </a:p>
          <a:p>
            <a:pPr lvl="0"/>
            <a:r>
              <a:rPr dirty="0"/>
              <a:t>For example, if I want to read in a comma separated file (.csv) that I have saved using Excel or notepad</a:t>
            </a:r>
          </a:p>
          <a:p>
            <a:pPr lvl="1"/>
            <a:r>
              <a:rPr dirty="0" err="1"/>
              <a:t>data_file</a:t>
            </a:r>
            <a:r>
              <a:rPr dirty="0"/>
              <a:t> &lt;- read.csv(“stored_data.csv”)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using 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 dirty="0" err="1">
                <a:solidFill>
                  <a:srgbClr val="003B4F"/>
                </a:solidFill>
                <a:latin typeface="Courier"/>
              </a:rPr>
              <a:t>Hmong_df</a:t>
            </a:r>
            <a:r>
              <a:rPr dirty="0">
                <a:solidFill>
                  <a:srgbClr val="003B4F"/>
                </a:solidFill>
                <a:latin typeface="Courier"/>
              </a:rPr>
              <a:t> &lt;- </a:t>
            </a:r>
            <a:r>
              <a:rPr dirty="0">
                <a:solidFill>
                  <a:srgbClr val="4758AB"/>
                </a:solidFill>
                <a:latin typeface="Courier"/>
              </a:rPr>
              <a:t>read.csv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20794D"/>
                </a:solidFill>
                <a:latin typeface="Courier"/>
              </a:rPr>
              <a:t>"HmongData.csv"</a:t>
            </a:r>
            <a:r>
              <a:rPr dirty="0">
                <a:solidFill>
                  <a:srgbClr val="003B4F"/>
                </a:solidFill>
                <a:latin typeface="Courier"/>
              </a:rPr>
              <a:t>) </a:t>
            </a:r>
            <a:r>
              <a:rPr dirty="0">
                <a:solidFill>
                  <a:srgbClr val="5E5E5E"/>
                </a:solidFill>
                <a:latin typeface="Courier"/>
              </a:rPr>
              <a:t># read.csv</a:t>
            </a:r>
            <a:br>
              <a:rPr dirty="0"/>
            </a:br>
            <a:endParaRPr lang="en-US" dirty="0"/>
          </a:p>
          <a:p>
            <a:pPr indent="0">
              <a:buNone/>
            </a:pPr>
            <a:r>
              <a:rPr dirty="0">
                <a:solidFill>
                  <a:srgbClr val="4758AB"/>
                </a:solidFill>
                <a:latin typeface="Courier"/>
              </a:rPr>
              <a:t>head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Hmong_df</a:t>
            </a:r>
            <a:r>
              <a:rPr dirty="0">
                <a:solidFill>
                  <a:srgbClr val="003B4F"/>
                </a:solidFill>
                <a:latin typeface="Courier"/>
              </a:rPr>
              <a:t>)                        </a:t>
            </a:r>
            <a:endParaRPr lang="en-US" dirty="0">
              <a:solidFill>
                <a:srgbClr val="003B4F"/>
              </a:solidFill>
              <a:latin typeface="Courier"/>
            </a:endParaRPr>
          </a:p>
          <a:p>
            <a:pPr indent="0">
              <a:buNone/>
            </a:pPr>
            <a:r>
              <a:rPr dirty="0">
                <a:solidFill>
                  <a:srgbClr val="5E5E5E"/>
                </a:solidFill>
                <a:latin typeface="Courier"/>
              </a:rPr>
              <a:t># Show</a:t>
            </a:r>
            <a:r>
              <a:rPr lang="en-US" dirty="0">
                <a:solidFill>
                  <a:srgbClr val="5E5E5E"/>
                </a:solidFill>
                <a:latin typeface="Courier"/>
              </a:rPr>
              <a:t>s</a:t>
            </a:r>
            <a:r>
              <a:rPr dirty="0">
                <a:solidFill>
                  <a:srgbClr val="5E5E5E"/>
                </a:solidFill>
                <a:latin typeface="Courier"/>
              </a:rPr>
              <a:t> the first few lines</a:t>
            </a:r>
            <a:endParaRPr lang="en-US" dirty="0">
              <a:solidFill>
                <a:srgbClr val="5E5E5E"/>
              </a:solidFill>
              <a:latin typeface="Courier"/>
            </a:endParaRPr>
          </a:p>
          <a:p>
            <a:pPr indent="0">
              <a:buNone/>
            </a:pPr>
            <a:br>
              <a:rPr dirty="0"/>
            </a:br>
            <a:r>
              <a:rPr dirty="0">
                <a:solidFill>
                  <a:srgbClr val="4758AB"/>
                </a:solidFill>
                <a:latin typeface="Courier"/>
              </a:rPr>
              <a:t>str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Hmong_df</a:t>
            </a:r>
            <a:r>
              <a:rPr dirty="0">
                <a:solidFill>
                  <a:srgbClr val="003B4F"/>
                </a:solidFill>
                <a:latin typeface="Courier"/>
              </a:rPr>
              <a:t>)       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5E5E5E"/>
                </a:solidFill>
                <a:latin typeface="Courier"/>
              </a:rPr>
              <a:t># structure</a:t>
            </a:r>
            <a:br>
              <a:rPr dirty="0"/>
            </a:br>
            <a:r>
              <a:rPr dirty="0">
                <a:solidFill>
                  <a:srgbClr val="5E5E5E"/>
                </a:solidFill>
                <a:latin typeface="Courier"/>
              </a:rPr>
              <a:t>names(</a:t>
            </a:r>
            <a:r>
              <a:rPr dirty="0" err="1">
                <a:solidFill>
                  <a:srgbClr val="5E5E5E"/>
                </a:solidFill>
                <a:latin typeface="Courier"/>
              </a:rPr>
              <a:t>Hmong_df</a:t>
            </a:r>
            <a:r>
              <a:rPr dirty="0">
                <a:solidFill>
                  <a:srgbClr val="5E5E5E"/>
                </a:solidFill>
                <a:latin typeface="Courier"/>
              </a:rPr>
              <a:t>)     </a:t>
            </a:r>
            <a:r>
              <a:rPr lang="en-US" dirty="0">
                <a:solidFill>
                  <a:srgbClr val="5E5E5E"/>
                </a:solidFill>
                <a:latin typeface="Courier"/>
              </a:rPr>
              <a:t>  # Print the variable names</a:t>
            </a:r>
          </a:p>
          <a:p>
            <a:pPr indent="0">
              <a:buNone/>
            </a:pPr>
            <a:r>
              <a:rPr lang="en-US" dirty="0">
                <a:solidFill>
                  <a:srgbClr val="5E5E5E"/>
                </a:solidFill>
                <a:latin typeface="Courier"/>
              </a:rPr>
              <a:t>View(</a:t>
            </a:r>
            <a:r>
              <a:rPr lang="en-US" dirty="0" err="1">
                <a:solidFill>
                  <a:srgbClr val="5E5E5E"/>
                </a:solidFill>
                <a:latin typeface="Courier"/>
              </a:rPr>
              <a:t>Hmong_df</a:t>
            </a:r>
            <a:r>
              <a:rPr lang="en-US" dirty="0">
                <a:solidFill>
                  <a:srgbClr val="5E5E5E"/>
                </a:solidFill>
                <a:latin typeface="Courier"/>
              </a:rPr>
              <a:t>)	   # View the dataset</a:t>
            </a:r>
            <a:endParaRPr dirty="0">
              <a:solidFill>
                <a:srgbClr val="5E5E5E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Quick </a:t>
            </a:r>
            <a:r>
              <a:rPr dirty="0" err="1"/>
              <a:t>Cheatsheet</a:t>
            </a:r>
            <a:r>
              <a:rPr lang="en-US" dirty="0"/>
              <a:t>: Base R Functions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read.csv(): CSV files</a:t>
            </a:r>
          </a:p>
          <a:p>
            <a:pPr lvl="0"/>
            <a:r>
              <a:t>read.delim(): Tab-delimited files</a:t>
            </a:r>
          </a:p>
          <a:p>
            <a:pPr lvl="0"/>
            <a:r>
              <a:t>read.table(): General text files</a:t>
            </a:r>
          </a:p>
          <a:p>
            <a:pPr lvl="0"/>
            <a:r>
              <a:t>read.fwf(): Fixed-width files load(): .RData files</a:t>
            </a:r>
          </a:p>
          <a:p>
            <a:pPr lvl="0"/>
            <a:r>
              <a:t>readRDS(): .rds files file.choose(): Browse for file</a:t>
            </a:r>
          </a:p>
          <a:p>
            <a:pPr lvl="0"/>
            <a:r>
              <a:t>note the file.choose() - this allows for opening a folder, and then clicking in the 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File.choose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48175"/>
            <a:ext cx="10515600" cy="4028787"/>
          </a:xfrm>
        </p:spPr>
        <p:txBody>
          <a:bodyPr/>
          <a:lstStyle/>
          <a:p>
            <a:pPr indent="0">
              <a:buNone/>
            </a:pPr>
            <a:r>
              <a:rPr dirty="0" err="1">
                <a:solidFill>
                  <a:srgbClr val="003B4F"/>
                </a:solidFill>
                <a:latin typeface="Courier"/>
              </a:rPr>
              <a:t>Hmong_df</a:t>
            </a:r>
            <a:r>
              <a:rPr dirty="0">
                <a:solidFill>
                  <a:srgbClr val="003B4F"/>
                </a:solidFill>
                <a:latin typeface="Courier"/>
              </a:rPr>
              <a:t>&lt;-</a:t>
            </a:r>
            <a:r>
              <a:rPr dirty="0">
                <a:solidFill>
                  <a:srgbClr val="4758AB"/>
                </a:solidFill>
                <a:latin typeface="Courier"/>
              </a:rPr>
              <a:t>read.csv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4758AB"/>
                </a:solidFill>
                <a:latin typeface="Courier"/>
              </a:rPr>
              <a:t>file.choose</a:t>
            </a:r>
            <a:r>
              <a:rPr dirty="0">
                <a:solidFill>
                  <a:srgbClr val="003B4F"/>
                </a:solidFill>
                <a:latin typeface="Courier"/>
              </a:rPr>
              <a:t>())</a:t>
            </a:r>
            <a:br>
              <a:rPr dirty="0"/>
            </a:br>
            <a:endParaRPr lang="en-US" dirty="0"/>
          </a:p>
          <a:p>
            <a:pPr indent="0">
              <a:buNone/>
            </a:pPr>
            <a:r>
              <a:rPr dirty="0">
                <a:solidFill>
                  <a:srgbClr val="5E5E5E"/>
                </a:solidFill>
                <a:latin typeface="Courier"/>
              </a:rPr>
              <a:t># Opens a file browser so you can point and click to select a data file</a:t>
            </a:r>
            <a:br>
              <a:rPr dirty="0"/>
            </a:br>
            <a:endParaRPr dirty="0">
              <a:solidFill>
                <a:srgbClr val="003B4F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workup for the Hmong .csv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Note that the HmongData.csv has missing data values coded as -99</a:t>
            </a:r>
          </a:p>
          <a:p>
            <a:pPr lvl="0"/>
            <a:r>
              <a:t>Need to communicate that to R</a:t>
            </a:r>
          </a:p>
          <a:p>
            <a:pPr lvl="0"/>
            <a:r>
              <a:t>There are also options regarding whether the first row contains variable names</a:t>
            </a:r>
          </a:p>
          <a:p>
            <a:pPr lvl="1"/>
            <a:r>
              <a:t>header = TRUE or header = FALSE</a:t>
            </a:r>
          </a:p>
          <a:p>
            <a:pPr lvl="1"/>
            <a:r>
              <a:t>Since header = T is the default, I omit it in my code</a:t>
            </a:r>
          </a:p>
          <a:p>
            <a:pPr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Hmong_df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"HmongData.csv"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657422"/>
                </a:solidFill>
                <a:latin typeface="Courier"/>
              </a:rPr>
              <a:t>na.strings=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99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(Hmong_df)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Packages to open data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i="1" dirty="0" err="1"/>
              <a:t>readr</a:t>
            </a:r>
            <a:endParaRPr i="1" dirty="0"/>
          </a:p>
          <a:p>
            <a:pPr lvl="0"/>
            <a:r>
              <a:rPr dirty="0" err="1"/>
              <a:t>readr</a:t>
            </a:r>
            <a:r>
              <a:rPr dirty="0"/>
              <a:t> is part of the </a:t>
            </a:r>
            <a:r>
              <a:rPr dirty="0" err="1"/>
              <a:t>tidyverse</a:t>
            </a:r>
            <a:r>
              <a:rPr dirty="0"/>
              <a:t>, so loading </a:t>
            </a:r>
            <a:r>
              <a:rPr dirty="0" err="1"/>
              <a:t>tidyverse</a:t>
            </a:r>
            <a:r>
              <a:rPr dirty="0"/>
              <a:t> also loads other packages like ggplot2</a:t>
            </a:r>
          </a:p>
          <a:p>
            <a:pPr lvl="0"/>
            <a:r>
              <a:rPr dirty="0"/>
              <a:t>library(</a:t>
            </a:r>
            <a:r>
              <a:rPr dirty="0" err="1"/>
              <a:t>readr</a:t>
            </a:r>
            <a:r>
              <a:rPr dirty="0"/>
              <a:t>) has the </a:t>
            </a:r>
            <a:r>
              <a:rPr dirty="0" err="1"/>
              <a:t>the</a:t>
            </a:r>
            <a:r>
              <a:rPr dirty="0"/>
              <a:t> following functions</a:t>
            </a:r>
          </a:p>
          <a:p>
            <a:pPr lvl="1"/>
            <a:r>
              <a:rPr dirty="0" err="1"/>
              <a:t>read_csv</a:t>
            </a:r>
            <a:endParaRPr dirty="0"/>
          </a:p>
          <a:p>
            <a:pPr lvl="1"/>
            <a:r>
              <a:rPr dirty="0" err="1"/>
              <a:t>read_tsv</a:t>
            </a:r>
            <a:endParaRPr dirty="0"/>
          </a:p>
          <a:p>
            <a:pPr lvl="1"/>
            <a:r>
              <a:rPr dirty="0" err="1"/>
              <a:t>read_delim</a:t>
            </a:r>
            <a:endParaRPr dirty="0"/>
          </a:p>
          <a:p>
            <a:pPr lvl="0"/>
            <a:r>
              <a:rPr dirty="0"/>
              <a:t>These produce </a:t>
            </a:r>
            <a:r>
              <a:rPr dirty="0" err="1"/>
              <a:t>tibbles</a:t>
            </a:r>
            <a:r>
              <a:rPr dirty="0"/>
              <a:t>, which are a “modern version” of data frames designed to work with </a:t>
            </a:r>
            <a:r>
              <a:rPr dirty="0" err="1"/>
              <a:t>tidyverse</a:t>
            </a:r>
            <a:r>
              <a:rPr dirty="0"/>
              <a:t> packages</a:t>
            </a:r>
          </a:p>
          <a:p>
            <a:pPr lvl="1"/>
            <a:r>
              <a:rPr dirty="0"/>
              <a:t>They also, when viewed, indicate the type of each variable in the data (integer, numeric, character, logical, date, and more)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Hmong_df2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"HmongData.csv"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657422"/>
                </a:solidFill>
                <a:latin typeface="Courier"/>
              </a:rPr>
              <a:t>na=</a:t>
            </a:r>
            <a:r>
              <a:rPr>
                <a:solidFill>
                  <a:srgbClr val="20794D"/>
                </a:solidFill>
                <a:latin typeface="Courier"/>
              </a:rPr>
              <a:t>"-99"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Hmong_df2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table</a:t>
            </a:r>
            <a:r>
              <a:rPr>
                <a:solidFill>
                  <a:srgbClr val="003B4F"/>
                </a:solidFill>
                <a:latin typeface="Courier"/>
              </a:rPr>
              <a:t>(Hmong_df2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BornUS)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Excel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br/>
            <a:br/>
            <a:r>
              <a:rPr>
                <a:solidFill>
                  <a:srgbClr val="003B4F"/>
                </a:solidFill>
                <a:latin typeface="Courier"/>
              </a:rPr>
              <a:t>Hmong_df3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"HmongData.xlsx"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"-99"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(Hmong_df3)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Haven package to read in SPSS, SAS, Stata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library(haven)</a:t>
            </a:r>
          </a:p>
          <a:p>
            <a:pPr lvl="1"/>
            <a:r>
              <a:rPr dirty="0" err="1"/>
              <a:t>df</a:t>
            </a:r>
            <a:r>
              <a:rPr dirty="0"/>
              <a:t> &lt;- </a:t>
            </a:r>
            <a:r>
              <a:rPr dirty="0" err="1"/>
              <a:t>read_sav</a:t>
            </a:r>
            <a:r>
              <a:rPr dirty="0"/>
              <a:t>(“</a:t>
            </a:r>
            <a:r>
              <a:rPr dirty="0" err="1"/>
              <a:t>mydata.sav</a:t>
            </a:r>
            <a:r>
              <a:rPr dirty="0"/>
              <a:t>”)</a:t>
            </a:r>
          </a:p>
          <a:p>
            <a:pPr lvl="1"/>
            <a:r>
              <a:rPr dirty="0" err="1"/>
              <a:t>df</a:t>
            </a:r>
            <a:r>
              <a:rPr dirty="0"/>
              <a:t> &lt;- </a:t>
            </a:r>
            <a:r>
              <a:rPr dirty="0" err="1"/>
              <a:t>read_dta</a:t>
            </a:r>
            <a:r>
              <a:rPr dirty="0"/>
              <a:t>(“</a:t>
            </a:r>
            <a:r>
              <a:rPr dirty="0" err="1"/>
              <a:t>mydata.dta</a:t>
            </a:r>
            <a:r>
              <a:rPr dirty="0"/>
              <a:t>”)</a:t>
            </a:r>
          </a:p>
          <a:p>
            <a:pPr lvl="1"/>
            <a:r>
              <a:rPr dirty="0" err="1"/>
              <a:t>df</a:t>
            </a:r>
            <a:r>
              <a:rPr dirty="0"/>
              <a:t> &lt;- </a:t>
            </a:r>
            <a:r>
              <a:rPr dirty="0" err="1"/>
              <a:t>read_sas</a:t>
            </a:r>
            <a:r>
              <a:rPr dirty="0"/>
              <a:t>(“mydata.sas7bdat”)</a:t>
            </a:r>
          </a:p>
          <a:p>
            <a:pPr lvl="0"/>
            <a:r>
              <a:rPr dirty="0"/>
              <a:t>Haven automatically imports missing values and metadata stored in SPSS, SAS, and Stata files</a:t>
            </a:r>
          </a:p>
          <a:p>
            <a:pPr lvl="1"/>
            <a:r>
              <a:rPr dirty="0"/>
              <a:t>Things like variable labels, value labels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Haven for SPSS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(haven)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Hmong_df4 &lt;- </a:t>
            </a:r>
            <a:r>
              <a:rPr>
                <a:solidFill>
                  <a:srgbClr val="4758AB"/>
                </a:solidFill>
                <a:latin typeface="Courier"/>
              </a:rPr>
              <a:t>read_sav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"HmongData.sav"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(Hmong_df4)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189" indent="-457189">
              <a:buAutoNum type="arabicPeriod"/>
            </a:pPr>
            <a:r>
              <a:t>Outliers</a:t>
            </a:r>
          </a:p>
          <a:p>
            <a:pPr marL="457189" indent="-457189">
              <a:buAutoNum type="arabicPeriod"/>
            </a:pPr>
            <a:r>
              <a:t>Miscoded or data entry errors</a:t>
            </a:r>
          </a:p>
          <a:p>
            <a:pPr marL="457189" indent="-457189">
              <a:buAutoNum type="arabicPeriod"/>
            </a:pPr>
            <a:r>
              <a:t>Missing data codes are correct</a:t>
            </a:r>
          </a:p>
          <a:p>
            <a:pPr lvl="0"/>
            <a:r>
              <a:t>psych package</a:t>
            </a:r>
          </a:p>
          <a:p>
            <a:pPr lvl="1"/>
            <a:r>
              <a:t>describe(Hmong_df)</a:t>
            </a:r>
          </a:p>
          <a:p>
            <a:pPr lvl="1"/>
            <a:r>
              <a:t>gives overall means, skew, range, minimum/maximum, etc</a:t>
            </a:r>
          </a:p>
          <a:p>
            <a:pPr lvl="1"/>
            <a:r>
              <a:t>Use the output to identify out-of-range values (some odd values, -99 for example)</a:t>
            </a:r>
          </a:p>
          <a:p>
            <a:pPr lvl="1"/>
            <a:r>
              <a:t>Outliers, etc.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Recoding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dirty="0"/>
              <a:t>Reverse scoring any items</a:t>
            </a:r>
          </a:p>
          <a:p>
            <a:pPr lvl="1"/>
            <a:r>
              <a:rPr dirty="0"/>
              <a:t>The valence of an item </a:t>
            </a:r>
            <a:r>
              <a:rPr i="1" dirty="0"/>
              <a:t>positive or negative</a:t>
            </a:r>
            <a:r>
              <a:rPr dirty="0"/>
              <a:t> to keep variables in a direction that is theoretically relevant</a:t>
            </a:r>
          </a:p>
          <a:p>
            <a:pPr lvl="1"/>
            <a:r>
              <a:rPr dirty="0"/>
              <a:t>Sometimes scoring is done in a way that a greater number </a:t>
            </a:r>
            <a:r>
              <a:rPr lang="en-US" dirty="0"/>
              <a:t>is</a:t>
            </a:r>
            <a:r>
              <a:rPr dirty="0"/>
              <a:t> </a:t>
            </a:r>
            <a:r>
              <a:rPr i="1" dirty="0"/>
              <a:t>less</a:t>
            </a:r>
            <a:r>
              <a:rPr dirty="0"/>
              <a:t> of a variable</a:t>
            </a:r>
          </a:p>
          <a:p>
            <a:pPr lvl="0"/>
            <a:r>
              <a:rPr dirty="0"/>
              <a:t>Coding any binary variables</a:t>
            </a:r>
          </a:p>
          <a:p>
            <a:pPr lvl="1"/>
            <a:r>
              <a:rPr dirty="0"/>
              <a:t>Recommended that these are 0/1, particularly in regressions</a:t>
            </a:r>
          </a:p>
          <a:p>
            <a:pPr lvl="1"/>
            <a:r>
              <a:rPr dirty="0"/>
              <a:t>R has no problem using factor variable, Regression models will automatically choose a reference category unless one is specified.</a:t>
            </a:r>
          </a:p>
          <a:p>
            <a:pPr lvl="0"/>
            <a:r>
              <a:rPr dirty="0"/>
              <a:t>Nominal variables</a:t>
            </a:r>
          </a:p>
          <a:p>
            <a:pPr lvl="1"/>
            <a:r>
              <a:rPr dirty="0"/>
              <a:t>Dummy coding necessary in regressions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t>Often in HHS research we use composites, sum scores to represent </a:t>
            </a:r>
            <a:r>
              <a:rPr i="1"/>
              <a:t>psychological</a:t>
            </a:r>
            <a:r>
              <a:t> constructs</a:t>
            </a:r>
          </a:p>
          <a:p>
            <a:pPr lvl="0"/>
            <a:r>
              <a:t>Anxiety, depression, exercise motivation, racial identity, anything that we think captures some phenomenon of interest</a:t>
            </a:r>
          </a:p>
          <a:p>
            <a:pPr lvl="0"/>
            <a:r>
              <a:t>Often these are </a:t>
            </a:r>
            <a:r>
              <a:rPr b="1"/>
              <a:t>latent constructs</a:t>
            </a:r>
            <a:r>
              <a:t> represented by </a:t>
            </a:r>
            <a:r>
              <a:rPr i="1"/>
              <a:t>indicators</a:t>
            </a:r>
            <a:r>
              <a:t> or items</a:t>
            </a:r>
          </a:p>
          <a:p>
            <a:pPr lvl="0"/>
            <a:r>
              <a:t>The GAD-7 </a:t>
            </a:r>
            <a:r>
              <a:rPr i="1"/>
              <a:t>Generalized Anxiety Disorder</a:t>
            </a:r>
            <a:r>
              <a:t> scale includes 7 indicators</a:t>
            </a:r>
          </a:p>
          <a:p>
            <a:pPr lvl="1"/>
            <a:r>
              <a:t>Logic is that someone’s underlying anxiety would </a:t>
            </a:r>
            <a:r>
              <a:rPr i="1"/>
              <a:t>cause</a:t>
            </a:r>
            <a:r>
              <a:t> them to indicate more frequent experiences of </a:t>
            </a:r>
            <a:r>
              <a:rPr b="1"/>
              <a:t>feeling nervous, anxious, or on edge</a:t>
            </a:r>
            <a:r>
              <a:t>, </a:t>
            </a:r>
            <a:r>
              <a:rPr b="1"/>
              <a:t>having trouble relaxing</a:t>
            </a:r>
            <a:r>
              <a:t>, etc</a:t>
            </a:r>
          </a:p>
          <a:p>
            <a:pPr lvl="0"/>
            <a:r>
              <a:t>Typically researchers administer to participants and then do some summation of the items</a:t>
            </a:r>
          </a:p>
          <a:p>
            <a:pPr lvl="1"/>
            <a:r>
              <a:t>Most simple is to add items together for a sum score (naive or coarse measurement)</a:t>
            </a:r>
          </a:p>
          <a:p>
            <a:pPr lvl="1"/>
            <a:r>
              <a:t>Sometimes researchers average the items to stay on a “scale”, in this case 0-3</a:t>
            </a:r>
          </a:p>
          <a:p>
            <a:pPr lvl="1"/>
            <a:r>
              <a:t>Can use other approaches using factor analysis and weighting items</a:t>
            </a:r>
          </a:p>
          <a:p>
            <a:pPr lvl="0"/>
            <a:r>
              <a:t>Can use BaseR functions or packages like psych to create these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There are some advantages to standardizing numeric, continuous variables</a:t>
            </a:r>
          </a:p>
          <a:p>
            <a:pPr lvl="0"/>
            <a:r>
              <a:rPr lang="en-US" dirty="0"/>
              <a:t>Can have two versions of the same variable, standardized (SD units) and unstandardized (raw units)</a:t>
            </a:r>
          </a:p>
          <a:p>
            <a:pPr lvl="0"/>
            <a:r>
              <a:rPr lang="en-US" dirty="0"/>
              <a:t>When we run regressions and want standardized output, some advantages of just using standardized outcomes</a:t>
            </a:r>
          </a:p>
          <a:p>
            <a:pPr lvl="0"/>
            <a:r>
              <a:rPr lang="en-US" dirty="0"/>
              <a:t>in R, can use the scale() function</a:t>
            </a:r>
          </a:p>
          <a:p>
            <a:pPr lvl="1"/>
            <a:r>
              <a:rPr lang="en-US" dirty="0" err="1"/>
              <a:t>data_df$anxiety_z</a:t>
            </a:r>
            <a:r>
              <a:rPr lang="en-US" dirty="0"/>
              <a:t> &lt;- scale(</a:t>
            </a:r>
            <a:r>
              <a:rPr lang="en-US" dirty="0" err="1"/>
              <a:t>data_df$anxiety</a:t>
            </a:r>
            <a:r>
              <a:rPr lang="en-US" dirty="0"/>
              <a:t>, center = T, scale = T)</a:t>
            </a:r>
          </a:p>
          <a:p>
            <a:pPr lvl="2"/>
            <a:r>
              <a:rPr lang="en-US" dirty="0"/>
              <a:t>To center can use scale = F</a:t>
            </a:r>
          </a:p>
          <a:p>
            <a:pPr lvl="2"/>
            <a:r>
              <a:rPr lang="en-US" dirty="0"/>
              <a:t>Center is subtracting sample mean scores from individual scores</a:t>
            </a:r>
          </a:p>
          <a:p>
            <a:pPr lvl="3"/>
            <a:r>
              <a:rPr lang="en-US" dirty="0"/>
              <a:t>Results in a mean of zero, but scale stays the same</a:t>
            </a:r>
          </a:p>
          <a:p>
            <a:pPr lvl="3"/>
            <a:r>
              <a:rPr lang="en-US" dirty="0"/>
              <a:t>Standardization results in mean of zero, but SD/Var is 1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CG-White-TopNavyBar">
  <a:themeElements>
    <a:clrScheme name="uncg-brand-2018_v1">
      <a:dk1>
        <a:sysClr val="windowText" lastClr="000000"/>
      </a:dk1>
      <a:lt1>
        <a:sysClr val="window" lastClr="FFFFFF"/>
      </a:lt1>
      <a:dk2>
        <a:srgbClr val="0F2044"/>
      </a:dk2>
      <a:lt2>
        <a:srgbClr val="BEC0C2"/>
      </a:lt2>
      <a:accent1>
        <a:srgbClr val="FFB71B"/>
      </a:accent1>
      <a:accent2>
        <a:srgbClr val="92D1B3"/>
      </a:accent2>
      <a:accent3>
        <a:srgbClr val="00698C"/>
      </a:accent3>
      <a:accent4>
        <a:srgbClr val="A00C30"/>
      </a:accent4>
      <a:accent5>
        <a:srgbClr val="A59C87"/>
      </a:accent5>
      <a:accent6>
        <a:srgbClr val="4FC2BF"/>
      </a:accent6>
      <a:hlink>
        <a:srgbClr val="00698C"/>
      </a:hlink>
      <a:folHlink>
        <a:srgbClr val="A6B0B7"/>
      </a:folHlink>
    </a:clrScheme>
    <a:fontScheme name="uncg-brand-2018-v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7FA0B92A-3BFA-4DF7-A8BB-8167C934927F}" vid="{F4432C4E-E316-4309-BF62-06306CF9A81C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1069</Words>
  <Application>Microsoft Office PowerPoint</Application>
  <PresentationFormat>Widescreen</PresentationFormat>
  <Paragraphs>100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Courier</vt:lpstr>
      <vt:lpstr>Georgia</vt:lpstr>
      <vt:lpstr>UNCG-White-TopNavyBar</vt:lpstr>
      <vt:lpstr>Data Cleaning and Using R</vt:lpstr>
      <vt:lpstr>Using R to Read Data, Recode Variables, and Prepare Data for Analysis</vt:lpstr>
      <vt:lpstr>Reading data into R</vt:lpstr>
      <vt:lpstr>Example using R Code</vt:lpstr>
      <vt:lpstr>Quick Cheatsheet: Base R Functions </vt:lpstr>
      <vt:lpstr>File.choose option</vt:lpstr>
      <vt:lpstr>Full workup for the Hmong .csv file</vt:lpstr>
      <vt:lpstr>Using Packages to open data sets</vt:lpstr>
      <vt:lpstr>readr workflow</vt:lpstr>
      <vt:lpstr>Reading Excel files</vt:lpstr>
      <vt:lpstr>Haven package to read in SPSS, SAS, Stata files</vt:lpstr>
      <vt:lpstr>Haven for SPSS file</vt:lpstr>
      <vt:lpstr>Checking data</vt:lpstr>
      <vt:lpstr>Recoding variables</vt:lpstr>
      <vt:lpstr>Summary scores</vt:lpstr>
      <vt:lpstr>Standardizing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Susan P Ellis</dc:creator>
  <cp:lastModifiedBy>Andrew Supple</cp:lastModifiedBy>
  <cp:revision>3</cp:revision>
  <dcterms:created xsi:type="dcterms:W3CDTF">2018-07-27T13:47:46Z</dcterms:created>
  <dcterms:modified xsi:type="dcterms:W3CDTF">2026-09-08T00:27:05Z</dcterms:modified>
</cp:coreProperties>
</file>