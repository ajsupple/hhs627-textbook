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Metadata/LabelInfo.xml" ContentType="application/vnd.ms-office.classificationlabel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Chapter 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Statistical Thinking and Quantitative Analysis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for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Quantitative analysis and statistics</a:t>
            </a:r>
          </a:p>
          <a:p>
            <a:pPr lvl="0"/>
            <a:r>
              <a:rPr/>
              <a:t>Null hypothesis testing</a:t>
            </a:r>
          </a:p>
          <a:p>
            <a:pPr lvl="0"/>
            <a:r>
              <a:rPr/>
              <a:t>Matching statistical tests with research designs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of Quantitative HHS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quantitative HHS research seeks to:</a:t>
            </a:r>
          </a:p>
          <a:p>
            <a:pPr lvl="0"/>
            <a:r>
              <a:rPr/>
              <a:t>Describe populations and samples</a:t>
            </a:r>
          </a:p>
          <a:p>
            <a:pPr lvl="0"/>
            <a:r>
              <a:rPr/>
              <a:t>Compare groups</a:t>
            </a:r>
          </a:p>
          <a:p>
            <a:pPr lvl="0"/>
            <a:r>
              <a:rPr/>
              <a:t>Examine relationships among variables</a:t>
            </a:r>
          </a:p>
          <a:p>
            <a:pPr lvl="0"/>
            <a:r>
              <a:rPr/>
              <a:t>Evaluate models with multiple predictors</a:t>
            </a:r>
          </a:p>
          <a:p>
            <a:pPr lvl="0" indent="0" marL="0">
              <a:buNone/>
            </a:pPr>
            <a:r>
              <a:rPr/>
              <a:t>Researchers typically draw conclusions using statistical tests that assess:</a:t>
            </a:r>
          </a:p>
          <a:p>
            <a:pPr lvl="0"/>
            <a:r>
              <a:rPr/>
              <a:t>Group differences</a:t>
            </a:r>
          </a:p>
          <a:p>
            <a:pPr lvl="0"/>
            <a:r>
              <a:rPr/>
              <a:t>Correlations</a:t>
            </a:r>
          </a:p>
          <a:p>
            <a:pPr lvl="0"/>
            <a:r>
              <a:rPr/>
              <a:t>Statistical significance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Statistical Significance?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Statistical significance addresses a simple question:</a:t>
            </a:r>
          </a:p>
          <a:p>
            <a:pPr lvl="0" indent="0" marL="1270000">
              <a:buNone/>
            </a:pPr>
            <a:r>
              <a:rPr sz="2000"/>
              <a:t>Is the observed effect large enough that it is unlikely to be zero in the population?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Are males and females different in IQ?</a:t>
            </a:r>
          </a:p>
          <a:p>
            <a:pPr lvl="0"/>
            <a:r>
              <a:rPr/>
              <a:t>Is father involvement related to girls’ self-esteem?</a:t>
            </a:r>
          </a:p>
          <a:p>
            <a:pPr lvl="0"/>
            <a:r>
              <a:rPr/>
              <a:t>Is the observed correlation different from zero?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Null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null hypothesis states that no effect exists.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No difference between groups</a:t>
            </a:r>
          </a:p>
          <a:p>
            <a:pPr lvl="0"/>
            <a:r>
              <a:rPr/>
              <a:t>Correlation equals zero</a:t>
            </a:r>
          </a:p>
          <a:p>
            <a:pPr lvl="0"/>
            <a:r>
              <a:rPr/>
              <a:t>Treatment effect equals zero</a:t>
            </a:r>
          </a:p>
          <a:p>
            <a:pPr lvl="0" indent="0" marL="0">
              <a:buNone/>
            </a:pPr>
            <a:r>
              <a:rPr/>
              <a:t>Statistical testing attempts to determine whether there is sufficient evidence to reject the null hypothesis.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I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Type I error occurs when:</a:t>
            </a:r>
          </a:p>
          <a:p>
            <a:pPr lvl="0"/>
            <a:r>
              <a:rPr/>
              <a:t>We reject the null hypothesis</a:t>
            </a:r>
          </a:p>
          <a:p>
            <a:pPr lvl="0"/>
            <a:r>
              <a:rPr/>
              <a:t>The null hypothesis is actually true</a:t>
            </a:r>
          </a:p>
          <a:p>
            <a:pPr lvl="0" indent="0" marL="0">
              <a:buNone/>
            </a:pPr>
            <a:r>
              <a:rPr/>
              <a:t>This is a false positive.</a:t>
            </a:r>
          </a:p>
          <a:p>
            <a:pPr lvl="0" indent="0" marL="0">
              <a:buNone/>
            </a:pPr>
            <a:r>
              <a:rPr/>
              <a:t>The probability of committing a Type I error is determined by α (alpha), typically:</a:t>
            </a:r>
          </a:p>
          <a:p>
            <a:pPr lvl="0"/>
            <a:r>
              <a:rPr/>
              <a:t>.05</a:t>
            </a:r>
          </a:p>
          <a:p>
            <a:pPr lvl="0"/>
            <a:r>
              <a:rPr/>
              <a:t>.01</a:t>
            </a:r>
          </a:p>
          <a:p>
            <a:pPr lvl="0"/>
            <a:r>
              <a:rPr/>
              <a:t>.001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II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Type II error occurs when:</a:t>
            </a:r>
          </a:p>
          <a:p>
            <a:pPr lvl="0"/>
            <a:r>
              <a:rPr/>
              <a:t>We fail to reject the null hypothesis</a:t>
            </a:r>
          </a:p>
          <a:p>
            <a:pPr lvl="0"/>
            <a:r>
              <a:rPr/>
              <a:t>A real effect actually exists</a:t>
            </a:r>
          </a:p>
          <a:p>
            <a:pPr lvl="0" indent="0" marL="0">
              <a:buNone/>
            </a:pPr>
            <a:r>
              <a:rPr/>
              <a:t>Common causes include:</a:t>
            </a:r>
          </a:p>
          <a:p>
            <a:pPr lvl="0"/>
            <a:r>
              <a:rPr/>
              <a:t>Small sample sizes</a:t>
            </a:r>
          </a:p>
          <a:p>
            <a:pPr lvl="0"/>
            <a:r>
              <a:rPr/>
              <a:t>Low statistical power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Problems with NHST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Critics argue that:</a:t>
            </a:r>
          </a:p>
          <a:p>
            <a:pPr lvl="0"/>
            <a:r>
              <a:rPr/>
              <a:t>Virtually all null hypotheses are false</a:t>
            </a:r>
          </a:p>
          <a:p>
            <a:pPr lvl="0"/>
            <a:r>
              <a:rPr/>
              <a:t>p-values are often misinterpreted</a:t>
            </a:r>
          </a:p>
          <a:p>
            <a:pPr lvl="0"/>
            <a:r>
              <a:rPr/>
              <a:t>Statistical significance says little about practical importance</a:t>
            </a:r>
          </a:p>
          <a:p>
            <a:pPr lvl="0"/>
            <a:r>
              <a:rPr/>
              <a:t>Lower p-values do not imply stronger effects</a:t>
            </a:r>
          </a:p>
          <a:p>
            <a:pPr lvl="0" indent="0" marL="0">
              <a:buNone/>
            </a:pPr>
            <a:r>
              <a:rPr/>
              <a:t>Researchers increasingly advocate reporting:</a:t>
            </a:r>
          </a:p>
          <a:p>
            <a:pPr lvl="0"/>
            <a:r>
              <a:rPr/>
              <a:t>Effect sizes</a:t>
            </a:r>
          </a:p>
          <a:p>
            <a:pPr lvl="0"/>
            <a:r>
              <a:rPr/>
              <a:t>Confidence intervals</a:t>
            </a:r>
          </a:p>
          <a:p>
            <a:pPr lvl="0"/>
            <a:r>
              <a:rPr/>
              <a:t>Bayesian analyses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Statistical versus Practical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statistically significant effect may be trivial in practice.</a:t>
            </a:r>
          </a:p>
          <a:p>
            <a:pPr lvl="0" indent="0" marL="0">
              <a:buNone/>
            </a:pPr>
            <a:r>
              <a:rPr/>
              <a:t>Large samples can make tiny effects statistically significant.</a:t>
            </a:r>
          </a:p>
          <a:p>
            <a:pPr lvl="0" indent="0" marL="0">
              <a:buNone/>
            </a:pPr>
            <a:r>
              <a:rPr/>
              <a:t>Therefore researchers should report:</a:t>
            </a:r>
          </a:p>
          <a:p>
            <a:pPr lvl="0"/>
            <a:r>
              <a:rPr/>
              <a:t>Effect sizes</a:t>
            </a:r>
          </a:p>
          <a:p>
            <a:pPr lvl="0"/>
            <a:r>
              <a:rPr/>
              <a:t>Confidence intervals</a:t>
            </a:r>
          </a:p>
          <a:p>
            <a:pPr lvl="0"/>
            <a:r>
              <a:rPr/>
              <a:t>Practical implications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Evidence-Based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Confidence Intervals</a:t>
            </a:r>
          </a:p>
          <a:p>
            <a:pPr lvl="0" indent="0" marL="0">
              <a:buNone/>
            </a:pPr>
            <a:r>
              <a:rPr/>
              <a:t>Confidence intervals estimate a plausible range of values for a population parameter.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 marL="0">
              <a:buNone/>
            </a:pPr>
            <a:r>
              <a:rPr/>
              <a:t>A 95% confidence interval that excludes zero typically indicates statistical significance.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Standardized (Z) Scores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Z scores place observations on a common scale.</a:t>
                </a:r>
              </a:p>
              <a:p>
                <a:pPr lvl="0" indent="0" marL="0">
                  <a:buNone/>
                </a:pPr>
                <a:r>
                  <a:rPr/>
                  <a:t>Formula: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z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</m:num>
                        <m:den>
                          <m:r>
                            <m:t>S</m:t>
                          </m:r>
                          <m:r>
                            <m:t>D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Interpretation:</a:t>
                </a:r>
              </a:p>
              <a:p>
                <a:pPr lvl="0"/>
                <a:r>
                  <a:rPr/>
                  <a:t>Positive z = above the mean</a:t>
                </a:r>
              </a:p>
              <a:p>
                <a:pPr lvl="0"/>
                <a:r>
                  <a:rPr/>
                  <a:t>Negative z = below the mean</a:t>
                </a:r>
              </a:p>
              <a:p>
                <a:pPr lvl="0" indent="0" marL="0">
                  <a:buNone/>
                </a:pPr>
                <a:r>
                  <a:rPr/>
                  <a:t>Example:</a:t>
                </a:r>
              </a:p>
              <a:p>
                <a:pPr lvl="0" indent="0" marL="0">
                  <a:buNone/>
                </a:pPr>
                <a:r>
                  <a:rPr/>
                  <a:t>A score of 78 may be above average in one class but below average in another.</a:t>
                </a:r>
              </a:p>
              <a:p>
                <a:pPr lvl="0" indent="0" marL="0">
                  <a:buNone/>
                </a:pPr>
                <a:r>
                  <a:rPr/>
                  <a:t>Z scores place both scores in context.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Choosing an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to consider:</a:t>
            </a:r>
          </a:p>
          <a:p>
            <a:pPr lvl="0" indent="-342900" marL="342900">
              <a:buAutoNum type="arabicPeriod"/>
            </a:pPr>
            <a:r>
              <a:rPr/>
              <a:t>What is the research question?</a:t>
            </a:r>
          </a:p>
          <a:p>
            <a:pPr lvl="0" indent="-342900" marL="342900">
              <a:buAutoNum type="arabicPeriod"/>
            </a:pPr>
            <a:r>
              <a:rPr/>
              <a:t>What is the hypothesis?</a:t>
            </a:r>
          </a:p>
          <a:p>
            <a:pPr lvl="0" indent="-342900" marL="342900">
              <a:buAutoNum type="arabicPeriod"/>
            </a:pPr>
            <a:r>
              <a:rPr/>
              <a:t>What is the research design?</a:t>
            </a:r>
          </a:p>
          <a:p>
            <a:pPr lvl="0" indent="-342900" marL="342900">
              <a:buAutoNum type="arabicPeriod"/>
            </a:pPr>
            <a:r>
              <a:rPr/>
              <a:t>How many variables are involved?</a:t>
            </a:r>
          </a:p>
          <a:p>
            <a:pPr lvl="0" indent="-342900" marL="342900">
              <a:buAutoNum type="arabicPeriod"/>
            </a:pPr>
            <a:r>
              <a:rPr/>
              <a:t>What levels of measurement are present?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 Comparison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Independent Samples t Test</a:t>
            </a:r>
          </a:p>
          <a:p>
            <a:pPr lvl="0" indent="0" marL="0">
              <a:buNone/>
            </a:pPr>
            <a:r>
              <a:rPr/>
              <a:t>Used to compare means across two groups.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Men versus women</a:t>
            </a:r>
          </a:p>
          <a:p>
            <a:pPr lvl="0"/>
            <a:r>
              <a:rPr/>
              <a:t>Treatment versus control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ANOVA</a:t>
            </a:r>
          </a:p>
          <a:p>
            <a:pPr lvl="0" indent="0" marL="0">
              <a:buNone/>
            </a:pPr>
            <a:r>
              <a:rPr/>
              <a:t>Used to compare means across three or more groups.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ANCOVA</a:t>
            </a:r>
          </a:p>
          <a:p>
            <a:pPr lvl="0" indent="0" marL="0">
              <a:buNone/>
            </a:pPr>
            <a:r>
              <a:rPr/>
              <a:t>ANOVA including covariates.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MANOVA</a:t>
            </a:r>
          </a:p>
          <a:p>
            <a:pPr lvl="0" indent="0" marL="0">
              <a:buNone/>
            </a:pPr>
            <a:r>
              <a:rPr/>
              <a:t>Multiple dependent variables.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Tests of Association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Pearson Correlation</a:t>
            </a:r>
          </a:p>
          <a:p>
            <a:pPr lvl="0" indent="0" marL="0">
              <a:buNone/>
            </a:pPr>
            <a:r>
              <a:rPr/>
              <a:t>Used with two continuous variables.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Age and self-esteem</a:t>
            </a:r>
          </a:p>
          <a:p>
            <a:pPr lvl="0"/>
            <a:r>
              <a:rPr/>
              <a:t>Education and income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Other Correlations</a:t>
            </a:r>
          </a:p>
          <a:p>
            <a:pPr lvl="0"/>
            <a:r>
              <a:rPr/>
              <a:t>Kendall’s Tau</a:t>
            </a:r>
          </a:p>
          <a:p>
            <a:pPr lvl="0"/>
            <a:r>
              <a:rPr/>
              <a:t>Polychoric</a:t>
            </a:r>
          </a:p>
          <a:p>
            <a:pPr lvl="0"/>
            <a:r>
              <a:rPr/>
              <a:t>Polyserial</a:t>
            </a:r>
          </a:p>
          <a:p>
            <a:pPr lvl="0"/>
            <a:r>
              <a:rPr/>
              <a:t>Point-biserial</a:t>
            </a:r>
          </a:p>
          <a:p>
            <a:pPr lvl="0"/>
            <a:r>
              <a:rPr/>
              <a:t>Phi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 predicts one outcome from multiple predictors.</a:t>
                </a:r>
              </a:p>
              <a:p>
                <a:pPr lvl="0" indent="0" marL="0">
                  <a:buNone/>
                </a:pPr>
                <a:r>
                  <a:rPr/>
                  <a:t>General model: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e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Researchers use regression to:</a:t>
                </a:r>
              </a:p>
              <a:p>
                <a:pPr lvl="0"/>
                <a:r>
                  <a:rPr/>
                  <a:t>Explain phenomena</a:t>
                </a:r>
              </a:p>
              <a:p>
                <a:pPr lvl="0"/>
                <a:r>
                  <a:rPr/>
                  <a:t>Control for confounding variables</a:t>
                </a:r>
              </a:p>
              <a:p>
                <a:pPr lvl="0"/>
                <a:r>
                  <a:rPr/>
                  <a:t>Estimate unique effects of predictors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Used when the outcome variable is dichotomous.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Pregnant/not pregnant</a:t>
            </a:r>
          </a:p>
          <a:p>
            <a:pPr lvl="0"/>
            <a:r>
              <a:rPr/>
              <a:t>Used drugs/did not use drugs</a:t>
            </a:r>
          </a:p>
          <a:p>
            <a:pPr lvl="0"/>
            <a:r>
              <a:rPr/>
              <a:t>Died/survived</a:t>
            </a:r>
          </a:p>
          <a:p>
            <a:pPr lvl="0" indent="0" marL="0">
              <a:buNone/>
            </a:pPr>
            <a:r>
              <a:rPr/>
              <a:t>Results typically include:</a:t>
            </a:r>
          </a:p>
          <a:p>
            <a:pPr lvl="0"/>
            <a:r>
              <a:rPr/>
              <a:t>Regression coefficients</a:t>
            </a:r>
          </a:p>
          <a:p>
            <a:pPr lvl="0"/>
            <a:r>
              <a:rPr/>
              <a:t>Odds ratios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Correlation versus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Correlation addresses association.</a:t>
            </a:r>
          </a:p>
          <a:p>
            <a:pPr lvl="0" indent="0" marL="0">
              <a:buNone/>
            </a:pPr>
            <a:r>
              <a:rPr/>
              <a:t>Regression allows:</a:t>
            </a:r>
          </a:p>
          <a:p>
            <a:pPr lvl="0"/>
            <a:r>
              <a:rPr/>
              <a:t>Multiple predictors</a:t>
            </a:r>
          </a:p>
          <a:p>
            <a:pPr lvl="0"/>
            <a:r>
              <a:rPr/>
              <a:t>Statistical control</a:t>
            </a:r>
          </a:p>
          <a:p>
            <a:pPr lvl="0"/>
            <a:r>
              <a:rPr/>
              <a:t>Prediction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 marL="0">
              <a:buNone/>
            </a:pPr>
            <a:r>
              <a:rPr/>
              <a:t>Divorce may predict adolescent depression, but that relation may weaken after controlling for inter-parental conflict.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Statistical Power and Effect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 analysis helps determine sample size requirements.</a:t>
            </a:r>
          </a:p>
          <a:p>
            <a:pPr lvl="0" indent="0" marL="0">
              <a:buNone/>
            </a:pPr>
            <a:r>
              <a:rPr/>
              <a:t>General rule:</a:t>
            </a:r>
          </a:p>
          <a:p>
            <a:pPr lvl="0"/>
            <a:r>
              <a:rPr/>
              <a:t>Large effects require smaller samples</a:t>
            </a:r>
          </a:p>
          <a:p>
            <a:pPr lvl="0"/>
            <a:r>
              <a:rPr/>
              <a:t>Small effects require larger samples</a:t>
            </a:r>
          </a:p>
          <a:p>
            <a:pPr lvl="0" indent="0" marL="0">
              <a:buNone/>
            </a:pPr>
            <a:r>
              <a:rPr/>
              <a:t>Power analysis is especially important in grant writing.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Statistical significance is not practical significance.</a:t>
            </a:r>
          </a:p>
          <a:p>
            <a:pPr lvl="0"/>
            <a:r>
              <a:rPr/>
              <a:t>NHST has important limitations.</a:t>
            </a:r>
          </a:p>
          <a:p>
            <a:pPr lvl="0"/>
            <a:r>
              <a:rPr/>
              <a:t>Researchers should report effect sizes and confidence intervals.</a:t>
            </a:r>
          </a:p>
          <a:p>
            <a:pPr lvl="0"/>
            <a:r>
              <a:rPr/>
              <a:t>Choice of statistical test depends on research design and measurement level.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Regression models allow multiple predictors and statistical control.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/>
  <cp:keywords/>
  <dcterms:created xsi:type="dcterms:W3CDTF">2026-08-04T19:31:54Z</dcterms:created>
  <dcterms:modified xsi:type="dcterms:W3CDTF">2026-08-04T19:31:54Z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