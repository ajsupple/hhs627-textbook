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Data Cleaning and Using R Slides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Using R to Read Data, Recode Variables, and Prepare Data for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Usually to get started with some sort of data analysis we will follow these steps:</a:t>
            </a:r>
          </a:p>
          <a:p>
            <a:pPr lvl="0" indent="-342900" marL="342900">
              <a:buAutoNum type="arabicPeriod"/>
            </a:pPr>
            <a:r>
              <a:rPr/>
              <a:t>Read data into R</a:t>
            </a:r>
          </a:p>
          <a:p>
            <a:pPr lvl="0" indent="-342900" marL="342900">
              <a:buAutoNum type="arabicPeriod"/>
            </a:pPr>
            <a:r>
              <a:rPr/>
              <a:t>View and inspect data</a:t>
            </a:r>
          </a:p>
          <a:p>
            <a:pPr lvl="0" indent="-342900" marL="342900">
              <a:buAutoNum type="arabicPeriod"/>
            </a:pPr>
            <a:r>
              <a:rPr/>
              <a:t>Clean any data issues or problems</a:t>
            </a:r>
          </a:p>
          <a:p>
            <a:pPr lvl="0" indent="-342900" marL="342900">
              <a:buAutoNum type="arabicPeriod"/>
            </a:pPr>
            <a:r>
              <a:rPr/>
              <a:t>Recode where necessary</a:t>
            </a:r>
          </a:p>
          <a:p>
            <a:pPr lvl="0" indent="-342900" marL="342900">
              <a:buAutoNum type="arabicPeriod"/>
            </a:pPr>
            <a:r>
              <a:rPr/>
              <a:t>Create summary variables if necessary</a:t>
            </a:r>
          </a:p>
          <a:p>
            <a:pPr lvl="0" indent="-342900" marL="342900">
              <a:buAutoNum type="arabicPeriod"/>
            </a:pPr>
            <a:r>
              <a:rPr/>
              <a:t>Standardizing variables</a:t>
            </a:r>
          </a:p>
          <a:p>
            <a:pPr lvl="0" indent="-342900" marL="342900">
              <a:buAutoNum type="arabicPeriod"/>
            </a:pPr>
            <a:r>
              <a:rPr/>
              <a:t>Decisions regarding missing data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Reading data into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Base R has a number of built-in functions for reading in text and ASCII data</a:t>
            </a:r>
          </a:p>
          <a:p>
            <a:pPr lvl="0"/>
            <a:r>
              <a:rPr/>
              <a:t>Some key terms: Data are </a:t>
            </a:r>
            <a:r>
              <a:rPr i="1"/>
              <a:t>delimited</a:t>
            </a:r>
            <a:r>
              <a:rPr/>
              <a:t> or separated in text files by things like </a:t>
            </a:r>
            <a:r>
              <a:rPr i="1"/>
              <a:t>tabs</a:t>
            </a:r>
            <a:r>
              <a:rPr/>
              <a:t>, </a:t>
            </a:r>
            <a:r>
              <a:rPr i="1"/>
              <a:t>commas</a:t>
            </a:r>
            <a:r>
              <a:rPr/>
              <a:t>, or </a:t>
            </a:r>
            <a:r>
              <a:rPr i="1"/>
              <a:t>spaces</a:t>
            </a:r>
          </a:p>
          <a:p>
            <a:pPr lvl="0"/>
            <a:r>
              <a:rPr/>
              <a:t>How the data are delimited influences which function should be used</a:t>
            </a:r>
          </a:p>
          <a:p>
            <a:pPr lvl="0"/>
            <a:r>
              <a:rPr/>
              <a:t>For example, if I want to read in a comma separated file (.csv) that I have saved using Excel or notepad</a:t>
            </a:r>
          </a:p>
          <a:p>
            <a:pPr lvl="1"/>
            <a:r>
              <a:rPr/>
              <a:t>data_file &lt;- read.csv(“stored_data.csv”)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using R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Hmong_df &lt;- </a:t>
            </a:r>
            <a:r>
              <a:rPr>
                <a:solidFill>
                  <a:srgbClr val="4758AB"/>
                </a:solidFill>
                <a:latin typeface="Courier"/>
              </a:rPr>
              <a:t>read.csv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"HmongData.csv"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# read.csv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(Hmong_df)                        </a:t>
            </a:r>
            <a:r>
              <a:rPr>
                <a:solidFill>
                  <a:srgbClr val="5E5E5E"/>
                </a:solidFill>
                <a:latin typeface="Courier"/>
              </a:rPr>
              <a:t># Show the first few lines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str</a:t>
            </a:r>
            <a:r>
              <a:rPr>
                <a:solidFill>
                  <a:srgbClr val="003B4F"/>
                </a:solidFill>
                <a:latin typeface="Courier"/>
              </a:rPr>
              <a:t>(Hmong_df)       </a:t>
            </a:r>
            <a:r>
              <a:rPr>
                <a:solidFill>
                  <a:srgbClr val="5E5E5E"/>
                </a:solidFill>
                <a:latin typeface="Courier"/>
              </a:rPr>
              <a:t># structure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names(Hmong_df)     # variable names - too long for now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Quick Cheatsheet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read.csv(): CSV files</a:t>
            </a:r>
          </a:p>
          <a:p>
            <a:pPr lvl="0"/>
            <a:r>
              <a:rPr/>
              <a:t>read.delim(): Tab-delimited files</a:t>
            </a:r>
          </a:p>
          <a:p>
            <a:pPr lvl="0"/>
            <a:r>
              <a:rPr/>
              <a:t>read.table(): General text files</a:t>
            </a:r>
          </a:p>
          <a:p>
            <a:pPr lvl="0"/>
            <a:r>
              <a:rPr/>
              <a:t>read.fwf(): Fixed-width files load(): .RData files</a:t>
            </a:r>
          </a:p>
          <a:p>
            <a:pPr lvl="0"/>
            <a:r>
              <a:rPr/>
              <a:t>readRDS(): .rds files file.choose(): Browse for file</a:t>
            </a:r>
          </a:p>
          <a:p>
            <a:pPr lvl="0"/>
            <a:r>
              <a:rPr/>
              <a:t>note the file.choose() - this allows for opening a folder, and then clicking in the file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File.choose 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Hmong_df&lt;-</a:t>
            </a:r>
            <a:r>
              <a:rPr>
                <a:solidFill>
                  <a:srgbClr val="4758AB"/>
                </a:solidFill>
                <a:latin typeface="Courier"/>
              </a:rPr>
              <a:t>read.csv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file.choose</a:t>
            </a:r>
            <a:r>
              <a:rPr>
                <a:solidFill>
                  <a:srgbClr val="003B4F"/>
                </a:solidFill>
                <a:latin typeface="Courier"/>
              </a:rPr>
              <a:t>())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Opens a file browser so you can point and click # to select a data file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\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Full workup for the Hmong .csv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 that the HmongData.csv has missing data values coded as -99</a:t>
            </a:r>
          </a:p>
          <a:p>
            <a:pPr lvl="0"/>
            <a:r>
              <a:rPr/>
              <a:t>Need to communicate that to R</a:t>
            </a:r>
          </a:p>
          <a:p>
            <a:pPr lvl="0"/>
            <a:r>
              <a:rPr/>
              <a:t>There are also options regarding whether the first row contains variable names</a:t>
            </a:r>
          </a:p>
          <a:p>
            <a:pPr lvl="1"/>
            <a:r>
              <a:rPr/>
              <a:t>header = TRUE or header = FALSE</a:t>
            </a:r>
          </a:p>
          <a:p>
            <a:pPr lvl="1"/>
            <a:r>
              <a:rPr/>
              <a:t>Since header = T is the default, I omit it in my code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Hmong_df &lt;- </a:t>
            </a:r>
            <a:r>
              <a:rPr>
                <a:solidFill>
                  <a:srgbClr val="4758AB"/>
                </a:solidFill>
                <a:latin typeface="Courier"/>
              </a:rPr>
              <a:t>read.csv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"HmongData.csv"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657422"/>
                </a:solidFill>
                <a:latin typeface="Courier"/>
              </a:rPr>
              <a:t>na.strings=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99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(Hmong_df)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Using Packages to open data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readr</a:t>
            </a:r>
          </a:p>
          <a:p>
            <a:pPr lvl="0"/>
            <a:r>
              <a:rPr/>
              <a:t>readr is part of the tidyverse, so loading tidyverse also loads other packages like ggplot2</a:t>
            </a:r>
          </a:p>
          <a:p>
            <a:pPr lvl="0"/>
            <a:r>
              <a:rPr/>
              <a:t>library(readr) has the the following functions</a:t>
            </a:r>
          </a:p>
          <a:p>
            <a:pPr lvl="0"/>
            <a:r>
              <a:rPr/>
              <a:t>read_csv</a:t>
            </a:r>
          </a:p>
          <a:p>
            <a:pPr lvl="0"/>
            <a:r>
              <a:rPr/>
              <a:t>read_tsv</a:t>
            </a:r>
          </a:p>
          <a:p>
            <a:pPr lvl="0"/>
            <a:r>
              <a:rPr/>
              <a:t>read_delim</a:t>
            </a:r>
          </a:p>
          <a:p>
            <a:pPr lvl="0"/>
            <a:r>
              <a:rPr/>
              <a:t>These produce tibbles, which are a “modern version” of data frames designed to work with tidyverse packages</a:t>
            </a:r>
          </a:p>
          <a:p>
            <a:pPr lvl="1"/>
            <a:r>
              <a:rPr/>
              <a:t>They also, when viewed, indicate the type of each variable in the data (integer, numeric, character, logical, date, and more)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readr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(readr)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Hmong_df2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"HmongData.csv"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657422"/>
                </a:solidFill>
                <a:latin typeface="Courier"/>
              </a:rPr>
              <a:t>na=</a:t>
            </a:r>
            <a:r>
              <a:rPr>
                <a:solidFill>
                  <a:srgbClr val="20794D"/>
                </a:solidFill>
                <a:latin typeface="Courier"/>
              </a:rPr>
              <a:t>"-99"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Hmong_df2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table</a:t>
            </a:r>
            <a:r>
              <a:rPr>
                <a:solidFill>
                  <a:srgbClr val="003B4F"/>
                </a:solidFill>
                <a:latin typeface="Courier"/>
              </a:rPr>
              <a:t>(Hmong_df2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BornUS)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Reading Excel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</a:t>
            </a:r>
            <a:br/>
            <a:br/>
            <a:br/>
            <a:r>
              <a:rPr>
                <a:solidFill>
                  <a:srgbClr val="003B4F"/>
                </a:solidFill>
                <a:latin typeface="Courier"/>
              </a:rPr>
              <a:t>Hmong_df3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"HmongData.xlsx"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na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"-99"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(Hmong_df3)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Haven package to read in SPSS, SAS, Stata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library(haven)</a:t>
            </a:r>
          </a:p>
          <a:p>
            <a:pPr lvl="0"/>
            <a:r>
              <a:rPr/>
              <a:t>df &lt;- read_sav(“mydata.sav”)</a:t>
            </a:r>
          </a:p>
          <a:p>
            <a:pPr lvl="0"/>
            <a:r>
              <a:rPr/>
              <a:t>df &lt;- read_dta(“mydata.dta”)</a:t>
            </a:r>
          </a:p>
          <a:p>
            <a:pPr lvl="0"/>
            <a:r>
              <a:rPr/>
              <a:t>df &lt;- read_sas(“mydata.sas7bdat”)</a:t>
            </a:r>
          </a:p>
          <a:p>
            <a:pPr lvl="0"/>
            <a:r>
              <a:rPr/>
              <a:t>Haven automatically imports missing values and metadata stored in SPSS, SAS, and Stata files</a:t>
            </a:r>
          </a:p>
          <a:p>
            <a:pPr lvl="1"/>
            <a:r>
              <a:rPr/>
              <a:t>Things like variable labels, value labels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Haven for SPSS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(haven)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Hmong_df4 &lt;- </a:t>
            </a:r>
            <a:r>
              <a:rPr>
                <a:solidFill>
                  <a:srgbClr val="4758AB"/>
                </a:solidFill>
                <a:latin typeface="Courier"/>
              </a:rPr>
              <a:t>read_sav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"HmongData.sav"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(Hmong_df4)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Checking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Outliers</a:t>
            </a:r>
          </a:p>
          <a:p>
            <a:pPr lvl="0" indent="-342900" marL="342900">
              <a:buAutoNum type="arabicPeriod"/>
            </a:pPr>
            <a:r>
              <a:rPr/>
              <a:t>Miscoded or data entry errors</a:t>
            </a:r>
          </a:p>
          <a:p>
            <a:pPr lvl="0" indent="-342900" marL="342900">
              <a:buAutoNum type="arabicPeriod"/>
            </a:pPr>
            <a:r>
              <a:rPr/>
              <a:t>Missing data codes are correct</a:t>
            </a:r>
          </a:p>
          <a:p>
            <a:pPr lvl="0"/>
            <a:r>
              <a:rPr/>
              <a:t>psych package</a:t>
            </a:r>
          </a:p>
          <a:p>
            <a:pPr lvl="1"/>
            <a:r>
              <a:rPr/>
              <a:t>describe(Hmong_df)</a:t>
            </a:r>
          </a:p>
          <a:p>
            <a:pPr lvl="1"/>
            <a:r>
              <a:rPr/>
              <a:t>gives overall means, skew, range, minimum/maximum, etc</a:t>
            </a:r>
          </a:p>
          <a:p>
            <a:pPr lvl="1"/>
            <a:r>
              <a:rPr/>
              <a:t>Use the output to identify out-of-range values (some odd values, -99 for example)</a:t>
            </a:r>
          </a:p>
          <a:p>
            <a:pPr lvl="1"/>
            <a:r>
              <a:rPr/>
              <a:t>Outliers, etc.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Recoding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Reverse scoring any items</a:t>
            </a:r>
          </a:p>
          <a:p>
            <a:pPr lvl="1"/>
            <a:r>
              <a:rPr/>
              <a:t>The valence of an item </a:t>
            </a:r>
            <a:r>
              <a:rPr i="1"/>
              <a:t>positive or negative</a:t>
            </a:r>
            <a:r>
              <a:rPr/>
              <a:t> to keep variables in a direction that is theoretically relevant</a:t>
            </a:r>
          </a:p>
          <a:p>
            <a:pPr lvl="1"/>
            <a:r>
              <a:rPr/>
              <a:t>Sometimes scoring is done in a way that a greater number actually is </a:t>
            </a:r>
            <a:r>
              <a:rPr i="1"/>
              <a:t>less</a:t>
            </a:r>
            <a:r>
              <a:rPr/>
              <a:t> of a variable</a:t>
            </a:r>
          </a:p>
          <a:p>
            <a:pPr lvl="0"/>
            <a:r>
              <a:rPr/>
              <a:t>Coding any binary variables</a:t>
            </a:r>
          </a:p>
          <a:p>
            <a:pPr lvl="1"/>
            <a:r>
              <a:rPr/>
              <a:t>Recommended that these are 0/1, particularly in regressions</a:t>
            </a:r>
          </a:p>
          <a:p>
            <a:pPr lvl="1"/>
            <a:r>
              <a:rPr/>
              <a:t>R has no problem using factor variable, Regression models will automatically choose a reference category unless one is specified.</a:t>
            </a:r>
          </a:p>
          <a:p>
            <a:pPr lvl="0"/>
            <a:r>
              <a:rPr/>
              <a:t>Nominal variables</a:t>
            </a:r>
          </a:p>
          <a:p>
            <a:pPr lvl="1"/>
            <a:r>
              <a:rPr/>
              <a:t>Dummy coding necessary in regressions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 scores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Often in HHS research we use composites, sum scores to represent </a:t>
            </a:r>
            <a:r>
              <a:rPr i="1"/>
              <a:t>psychological</a:t>
            </a:r>
            <a:r>
              <a:rPr/>
              <a:t> constructs</a:t>
            </a:r>
          </a:p>
          <a:p>
            <a:pPr lvl="0"/>
            <a:r>
              <a:rPr/>
              <a:t>Anxiety, depression, exercise motivation, racial identity, anything that we think captures some phenomenon of interest</a:t>
            </a:r>
          </a:p>
          <a:p>
            <a:pPr lvl="0"/>
            <a:r>
              <a:rPr/>
              <a:t>Often these are </a:t>
            </a:r>
            <a:r>
              <a:rPr b="1"/>
              <a:t>latent constructs</a:t>
            </a:r>
            <a:r>
              <a:rPr/>
              <a:t> represented by </a:t>
            </a:r>
            <a:r>
              <a:rPr i="1"/>
              <a:t>indicators</a:t>
            </a:r>
            <a:r>
              <a:rPr/>
              <a:t> or items</a:t>
            </a:r>
          </a:p>
          <a:p>
            <a:pPr lvl="0"/>
            <a:r>
              <a:rPr/>
              <a:t>The GAD-7 </a:t>
            </a:r>
            <a:r>
              <a:rPr i="1"/>
              <a:t>Generalized Anxiety Disorder</a:t>
            </a:r>
            <a:r>
              <a:rPr/>
              <a:t> scale includes 7 indicators</a:t>
            </a:r>
          </a:p>
          <a:p>
            <a:pPr lvl="1"/>
            <a:r>
              <a:rPr/>
              <a:t>Logic is that someone’s underlying anxiety would </a:t>
            </a:r>
            <a:r>
              <a:rPr i="1"/>
              <a:t>cause</a:t>
            </a:r>
            <a:r>
              <a:rPr/>
              <a:t> them to indicate more frequent experiences of </a:t>
            </a:r>
            <a:r>
              <a:rPr b="1"/>
              <a:t>feeling nervous, anxious, or on edge</a:t>
            </a:r>
            <a:r>
              <a:rPr/>
              <a:t>, </a:t>
            </a:r>
            <a:r>
              <a:rPr b="1"/>
              <a:t>having trouble relaxing</a:t>
            </a:r>
            <a:r>
              <a:rPr/>
              <a:t>, etc</a:t>
            </a:r>
          </a:p>
          <a:p>
            <a:pPr lvl="0"/>
            <a:r>
              <a:rPr/>
              <a:t>Typically researchers administer to participants and then do some summation of the items</a:t>
            </a:r>
          </a:p>
          <a:p>
            <a:pPr lvl="1"/>
            <a:r>
              <a:rPr/>
              <a:t>Most simple is to add items together for a sum score (naive or coarse measurement)</a:t>
            </a:r>
          </a:p>
          <a:p>
            <a:pPr lvl="1"/>
            <a:r>
              <a:rPr/>
              <a:t>Sometimes researchers average the items to stay on a “scale”, in this case 0-3</a:t>
            </a:r>
          </a:p>
          <a:p>
            <a:pPr lvl="1"/>
            <a:r>
              <a:rPr/>
              <a:t>Can use other approaches using factor analysis and weighting items</a:t>
            </a:r>
          </a:p>
          <a:p>
            <a:pPr lvl="0"/>
            <a:r>
              <a:rPr/>
              <a:t>Can use BaseR functions or packages like psych to create these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Standardizing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There are some advantages to standardizing numeric, continuous variables</a:t>
                </a:r>
              </a:p>
              <a:p>
                <a:pPr lvl="0"/>
                <a:r>
                  <a:rPr/>
                  <a:t>Can have two versions of the same variable, standardized (SD units) and unstandardized (raw units)</a:t>
                </a:r>
              </a:p>
              <a:p>
                <a:pPr lvl="0"/>
                <a:r>
                  <a:rPr/>
                  <a:t>When we run regressions and want standardized output, some advantages of just using standardized outcomes</a:t>
                </a:r>
              </a:p>
              <a:p>
                <a:pPr lvl="0"/>
                <a:r>
                  <a:rPr/>
                  <a:t>in R, can use the scale() function</a:t>
                </a:r>
              </a:p>
              <a:p>
                <a:pPr lvl="1"/>
                <a:r>
                  <a:rPr/>
                  <a:t>data_df</a:t>
                </a:r>
                <a14:m>
                  <m:oMath xmlns:m="http://schemas.openxmlformats.org/officeDocument/2006/math">
                    <m:r>
                      <m:t>a</m:t>
                    </m:r>
                    <m:r>
                      <m:t>n</m:t>
                    </m:r>
                    <m:r>
                      <m:t>x</m:t>
                    </m:r>
                    <m:r>
                      <m:t>i</m:t>
                    </m:r>
                    <m:r>
                      <m:t>e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z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s</m:t>
                    </m:r>
                    <m:r>
                      <m:t>c</m:t>
                    </m:r>
                    <m:r>
                      <m:t>a</m:t>
                    </m:r>
                    <m:r>
                      <m:t>l</m:t>
                    </m:r>
                    <m:r>
                      <m:t>e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a</m:t>
                    </m:r>
                    <m:r>
                      <m:t>t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d</m:t>
                        </m:r>
                      </m:sub>
                    </m:sSub>
                    <m:r>
                      <m:t>f</m:t>
                    </m:r>
                  </m:oMath>
                </a14:m>
                <a:r>
                  <a:rPr/>
                  <a:t>anxiety, center = T, scale = T)</a:t>
                </a:r>
              </a:p>
              <a:p>
                <a:pPr lvl="2"/>
                <a:r>
                  <a:rPr/>
                  <a:t>To center can use scale = F</a:t>
                </a:r>
              </a:p>
              <a:p>
                <a:pPr lvl="2"/>
                <a:r>
                  <a:rPr/>
                  <a:t>Center is subtracting sample mean scores from individual scores</a:t>
                </a:r>
              </a:p>
              <a:p>
                <a:pPr lvl="3"/>
                <a:r>
                  <a:rPr/>
                  <a:t>Results in a mean of zero, but scale stays the same</a:t>
                </a:r>
              </a:p>
              <a:p>
                <a:pPr lvl="3"/>
                <a:r>
                  <a:rPr/>
                  <a:t>Standardization results in mean of zero, but SD/Var is 1</a:t>
                </a:r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Cleaning and Using R Slides</dc:title>
  <dc:creator/>
  <cp:keywords/>
  <dcterms:created xsi:type="dcterms:W3CDTF">2026-09-07T19:42:37Z</dcterms:created>
  <dcterms:modified xsi:type="dcterms:W3CDTF">2026-09-07T19:42:37Z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